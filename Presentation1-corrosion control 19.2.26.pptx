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wmf" ContentType="image/x-wmf"/>
  <Default Extension="png" ContentType="image/png"/>
  <Default Extension="rels" ContentType="application/vnd.openxmlformats-package.relationships+xml"/>
  <Default Extension="gif" ContentType="image/gif"/>
  <Default Extension="jpg" ContentType="image/jpeg"/>
  <Default Extension="bin" ContentType="application/vnd.openxmlformats-officedocument.oleObject"/>
  <Override PartName="/ppt/notesSlides/notesSlide52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5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s/slide53.xml" ContentType="application/vnd.openxmlformats-officedocument.presentationml.slide+xml"/>
  <Override PartName="/ppt/slides/slide17.xml" ContentType="application/vnd.openxmlformats-officedocument.presentationml.slide+xml"/>
  <Override PartName="/ppt/slides/slide50.xml" ContentType="application/vnd.openxmlformats-officedocument.presentationml.slide+xml"/>
  <Override PartName="/ppt/slides/slide48.xml" ContentType="application/vnd.openxmlformats-officedocument.presentationml.slide+xml"/>
  <Override PartName="/ppt/slides/slide47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6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44.xml" ContentType="application/vnd.openxmlformats-officedocument.presentationml.slide+xml"/>
  <Override PartName="/ppt/notesSlides/notesSlide9.xml" ContentType="application/vnd.openxmlformats-officedocument.presentationml.notesSlide+xml"/>
  <Override PartName="/ppt/notesSlides/notesSlide25.xml" ContentType="application/vnd.openxmlformats-officedocument.presentationml.notesSlide+xml"/>
  <Override PartName="/ppt/slideLayouts/slideLayout10.xml" ContentType="application/vnd.openxmlformats-officedocument.presentationml.slideLayout+xml"/>
  <Override PartName="/ppt/slides/slide43.xml" ContentType="application/vnd.openxmlformats-officedocument.presentationml.slide+xml"/>
  <Override PartName="/ppt/slides/slide33.xml" ContentType="application/vnd.openxmlformats-officedocument.presentationml.slide+xml"/>
  <Override PartName="/ppt/slides/slide52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10.xml" ContentType="application/vnd.openxmlformats-officedocument.presentationml.notesSlide+xml"/>
  <Override PartName="/ppt/presProps.xml" ContentType="application/vnd.openxmlformats-officedocument.presentationml.presProps+xml"/>
  <Override PartName="/ppt/slides/slide41.xml" ContentType="application/vnd.openxmlformats-officedocument.presentationml.slide+xml"/>
  <Override PartName="/ppt/notesSlides/notesSlide49.xml" ContentType="application/vnd.openxmlformats-officedocument.presentationml.notesSlide+xml"/>
  <Override PartName="/ppt/notesSlides/notesSlide17.xml" ContentType="application/vnd.openxmlformats-officedocument.presentationml.notesSlide+xml"/>
  <Override PartName="/ppt/slides/slide27.xml" ContentType="application/vnd.openxmlformats-officedocument.presentationml.slide+xml"/>
  <Override PartName="/ppt/slides/slide40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38.xml" ContentType="application/vnd.openxmlformats-officedocument.presentationml.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9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19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slides/slide13.xml" ContentType="application/vnd.openxmlformats-officedocument.presentationml.slide+xml"/>
  <Override PartName="/docProps/custom.xml" ContentType="application/vnd.openxmlformats-officedocument.custom-properties+xml"/>
  <Override PartName="/ppt/slides/slide11.xml" ContentType="application/vnd.openxmlformats-officedocument.presentationml.slide+xml"/>
  <Override PartName="/ppt/slides/slide49.xml" ContentType="application/vnd.openxmlformats-officedocument.presentationml.slide+xml"/>
  <Override PartName="/ppt/slides/slide9.xml" ContentType="application/vnd.openxmlformats-officedocument.presentationml.slide+xml"/>
  <Override PartName="/ppt/slides/slide15.xml" ContentType="application/vnd.openxmlformats-officedocument.presentationml.slide+xml"/>
  <Override PartName="/ppt/slides/slide8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notesSlides/notesSlide48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47.xml" ContentType="application/vnd.openxmlformats-officedocument.presentationml.notesSlide+xml"/>
  <Override PartName="/ppt/notesSlides/notesSlide41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.xml" ContentType="application/vnd.openxmlformats-officedocument.presentationml.slide+xml"/>
  <Override PartName="/ppt/slides/slide18.xml" ContentType="application/vnd.openxmlformats-officedocument.presentationml.slide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ppt/viewProps.xml" ContentType="application/vnd.openxmlformats-officedocument.presentationml.viewProps+xml"/>
  <Override PartName="/ppt/notesSlides/notesSlide27.xml" ContentType="application/vnd.openxmlformats-officedocument.presentationml.notes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notesSlides/notesSlide19.xml" ContentType="application/vnd.openxmlformats-officedocument.presentationml.notesSlide+xml"/>
  <Override PartName="/ppt/slideLayouts/slideLayout9.xml" ContentType="application/vnd.openxmlformats-officedocument.presentationml.slideLayout+xml"/>
  <Override PartName="/ppt/notesSlides/notesSlide53.xml" ContentType="application/vnd.openxmlformats-officedocument.presentationml.notesSlide+xml"/>
  <Override PartName="/ppt/notesSlides/notesSlide38.xml" ContentType="application/vnd.openxmlformats-officedocument.presentationml.notesSlide+xml"/>
  <Override PartName="/ppt/slides/slide45.xml" ContentType="application/vnd.openxmlformats-officedocument.presentationml.slide+xml"/>
  <Override PartName="/docProps/app.xml" ContentType="application/vnd.openxmlformats-officedocument.extended-properties+xml"/>
  <Override PartName="/ppt/slides/slide12.xml" ContentType="application/vnd.openxmlformats-officedocument.presentationml.slide+xml"/>
  <Override PartName="/ppt/notesSlides/notesSlide26.xml" ContentType="application/vnd.openxmlformats-officedocument.presentationml.notesSlide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notesSlides/notesSlide35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36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51.xml" ContentType="application/vnd.openxmlformats-officedocument.presentationml.slide+xml"/>
  <Override PartName="/ppt/slides/slide3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5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</p:sldIdLst>
  <p:sldSz cx="12192000" cy="6858000"/>
  <p:notesSz cx="6858000" cy="9144000"/>
  <p:defaultTextStyle>
    <a:defPPr>
      <a:defRPr lang="en-GB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 /><Relationship Id="rId59" Type="http://schemas.openxmlformats.org/officeDocument/2006/relationships/tableStyles" Target="tableStyles.xml" /><Relationship Id="rId6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583338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7359859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GB"/>
              <a:t/>
            </a:fld>
            <a:endParaRPr lang="en-GB"/>
          </a:p>
        </p:txBody>
      </p:sp>
      <p:sp>
        <p:nvSpPr>
          <p:cNvPr id="472718765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GB"/>
          </a:p>
        </p:txBody>
      </p:sp>
      <p:sp>
        <p:nvSpPr>
          <p:cNvPr id="10180487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GB"/>
              <a:t>Click to edit Master text styles</a:t>
            </a:r>
            <a:endParaRPr lang="en-GB"/>
          </a:p>
          <a:p>
            <a:pPr lvl="1">
              <a:defRPr/>
            </a:pPr>
            <a:r>
              <a:rPr lang="en-GB"/>
              <a:t>Second level</a:t>
            </a:r>
            <a:endParaRPr lang="en-GB"/>
          </a:p>
          <a:p>
            <a:pPr lvl="2">
              <a:defRPr/>
            </a:pPr>
            <a:r>
              <a:rPr lang="en-GB"/>
              <a:t>Third level</a:t>
            </a:r>
            <a:endParaRPr lang="en-GB"/>
          </a:p>
          <a:p>
            <a:pPr lvl="3">
              <a:defRPr/>
            </a:pPr>
            <a:r>
              <a:rPr lang="en-GB"/>
              <a:t>Fourth level</a:t>
            </a:r>
            <a:endParaRPr lang="en-GB"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12434339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609292593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GB"/>
              <a:t/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 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 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 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 ?>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 ?>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 ?>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 ?>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 ?>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 ?>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 ?>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 ?>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 ?>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 ?>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 ?>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 ?>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 ?>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 ?>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 ?>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 ?>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 ?>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 ?>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22424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76020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GB">
              <a:latin typeface="Arial"/>
              <a:cs typeface="Arial"/>
            </a:endParaRPr>
          </a:p>
        </p:txBody>
      </p:sp>
      <p:sp>
        <p:nvSpPr>
          <p:cNvPr id="5111449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GB"/>
              <a:t/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69824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40701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46490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6D1558-53E9-1BEE-F8B4-F564BEE1ED6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96086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56952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44723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6F4533-9B33-2DFF-4898-1148C19F22F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86455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31565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31245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A9E6BE-F61D-072A-7CE7-4F2519BAEE9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93849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14107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86637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9FDDE9-C161-5894-EF5E-FB35069EF26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00664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30507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29558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90191B-B87F-C62F-72FC-057B378516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93662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33862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58528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71A8E8A-8380-17B1-A655-A20EF6BCCB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8329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81327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31157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B99360C-A776-1D3E-E89F-955DCF7E7A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87301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45753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89479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6AC911-FF58-10BD-DB72-3B61AF6E02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6422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26016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53456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BE05B7-417B-BF7F-18D1-DB31611A6F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72476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28194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6107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C379410-28C6-4F65-7DD6-6AA86E1B21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02286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77457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56056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7F5C25-4E7D-FC12-03FD-1AD5763178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6766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98711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08627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678C06-FD60-3958-916C-09CFDF22960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05284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25571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45207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4CFE37-A5B1-384D-7754-06278ABBDCB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9480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13426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28247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154ADA-4022-BF18-9852-66F031ED3D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98190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20476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11257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E34672-C4EE-C615-8CB8-A23220BE03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70373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95143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85619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03ACAE-BEC2-8F40-AF92-3239A99443A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39413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09149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52874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4772FF-4012-8252-40CA-092535EE5D6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11974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97632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56464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9EB3D8-59CD-153C-93DE-86670156C04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3759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37644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30978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E36759-BFF6-C16F-BCA3-3C93895F4B9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68237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70344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78471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610C339-1806-B9F2-3A42-405A96E192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1097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62455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35525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645C72-C82D-DF6D-15D9-286DAFAE679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28918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20903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15293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C578F0-9929-B9A3-6228-F24B861BF55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55593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49861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13951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7069FC8-9946-DA94-DC44-D1064BCF9B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45358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66922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38612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853265-5A63-1C35-188C-AA3ED0E5BA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8484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67775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9356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02A019-875F-DBEA-8CF6-966478A3885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01436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25847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35682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B1B1CD7-F962-6AD0-73A5-8FA51B25572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35434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38466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75039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54DDEF-35FC-4347-10AB-619CEA28ED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23927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18643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54075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6C80CB0-1449-2C9F-6B73-F0CBD16097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02138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94182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1648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99E925-27C5-A818-195E-FB246D92B0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88073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4490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53003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CABD0B-6815-261B-016C-69768FF4675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67400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30639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36354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79536D-17BA-55EF-5370-0A3B4D799B0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75770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11760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7619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36DF1D-E5F9-9597-96FF-54EE6A5C760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762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26501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46960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CA7000-0135-B02F-16BE-1F6775800E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26286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83809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84894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51BB8E-E77E-B3B1-E6D0-49C3664A9D5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38119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93151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5822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2B07D6-6B42-3E54-627F-A0D1EC56A7E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6013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41274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59291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5618FC-343F-6C4E-68D3-E2F7709310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31457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94836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06383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0ED7B1C-86C2-E4B5-2EDF-D3CE82C7EF4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49241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07927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86560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C212A3-53CC-3BDB-CFD8-A633F929D6D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02513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42635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33556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BF3940-1658-EAE1-90F8-59F069B05B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10260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63230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83621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1DF3B2-667C-68CD-D099-AD5503271D4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86297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94230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68384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FE0D9B-B549-4B92-9F76-7D0EEF3BE7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8492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33111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24517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D1B8C0-D8FC-F35A-FFDC-DDB7F5B418F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7891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13279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57709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2116AC-F8AB-4891-787C-F0856743A46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80267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86316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19940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084B04-4243-6B30-6B63-AB3310964F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85602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29632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67879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B07F52-3ACD-CF91-D5C3-F4BDEB36DF0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33445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37242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21727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18FAA6B-D5C8-4EA8-2DFF-BB02C8B4540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66447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59649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74212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1FCB40-16A5-02F9-1632-05D50963EF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17187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79701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9171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4A51C4-9AF5-3715-DD35-D9FFF394C8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03661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36028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1634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04A58F-E72A-FDD0-65DB-9CB1A23CE2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18029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428832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64748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9CB92A-3816-0DB9-E928-8D24A4F689A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7834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57742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86910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A28B20-BB7F-84B2-9511-896183FB1AD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5276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093490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89653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7AB673-8FCC-CD51-549D-D92DF689AC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1874709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73929646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GB"/>
              <a:t>Click to edit Master subtitle style</a:t>
            </a:r>
            <a:endParaRPr lang="en-GB"/>
          </a:p>
        </p:txBody>
      </p:sp>
      <p:sp>
        <p:nvSpPr>
          <p:cNvPr id="6690373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24/03/2026</a:t>
            </a:fld>
            <a:endParaRPr lang="en-GB"/>
          </a:p>
        </p:txBody>
      </p:sp>
      <p:sp>
        <p:nvSpPr>
          <p:cNvPr id="2783044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114445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1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500792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7375615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 lang="en-GB"/>
          </a:p>
          <a:p>
            <a:pPr lvl="1">
              <a:defRPr/>
            </a:pPr>
            <a:r>
              <a:rPr lang="en-GB"/>
              <a:t>Second level</a:t>
            </a:r>
            <a:endParaRPr lang="en-GB"/>
          </a:p>
          <a:p>
            <a:pPr lvl="2">
              <a:defRPr/>
            </a:pPr>
            <a:r>
              <a:rPr lang="en-GB"/>
              <a:t>Third level</a:t>
            </a:r>
            <a:endParaRPr lang="en-GB"/>
          </a:p>
          <a:p>
            <a:pPr lvl="3">
              <a:defRPr/>
            </a:pPr>
            <a:r>
              <a:rPr lang="en-GB"/>
              <a:t>Fourth level</a:t>
            </a:r>
            <a:endParaRPr lang="en-GB"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100379478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24/03/2026</a:t>
            </a:fld>
            <a:endParaRPr lang="en-GB"/>
          </a:p>
        </p:txBody>
      </p:sp>
      <p:sp>
        <p:nvSpPr>
          <p:cNvPr id="110916379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19291691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2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4947100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56868169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14994743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24/03/2026</a:t>
            </a:fld>
            <a:endParaRPr lang="en-GB"/>
          </a:p>
        </p:txBody>
      </p:sp>
      <p:sp>
        <p:nvSpPr>
          <p:cNvPr id="25390773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44394915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&lt;#&gt;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858118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27793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 lang="en-GB"/>
          </a:p>
          <a:p>
            <a:pPr lvl="1">
              <a:defRPr/>
            </a:pPr>
            <a:r>
              <a:rPr lang="en-GB"/>
              <a:t>Second level</a:t>
            </a:r>
            <a:endParaRPr lang="en-GB"/>
          </a:p>
          <a:p>
            <a:pPr lvl="2">
              <a:defRPr/>
            </a:pPr>
            <a:r>
              <a:rPr lang="en-GB"/>
              <a:t>Third level</a:t>
            </a:r>
            <a:endParaRPr lang="en-GB"/>
          </a:p>
          <a:p>
            <a:pPr lvl="3">
              <a:defRPr/>
            </a:pPr>
            <a:r>
              <a:rPr lang="en-GB"/>
              <a:t>Fourth level</a:t>
            </a:r>
            <a:endParaRPr lang="en-GB"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68565521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 lang="en-GB"/>
          </a:p>
          <a:p>
            <a:pPr lvl="1">
              <a:defRPr/>
            </a:pPr>
            <a:r>
              <a:rPr lang="en-GB"/>
              <a:t>Second level</a:t>
            </a:r>
            <a:endParaRPr lang="en-GB"/>
          </a:p>
          <a:p>
            <a:pPr lvl="2">
              <a:defRPr/>
            </a:pPr>
            <a:r>
              <a:rPr lang="en-GB"/>
              <a:t>Third level</a:t>
            </a:r>
            <a:endParaRPr lang="en-GB"/>
          </a:p>
          <a:p>
            <a:pPr lvl="3">
              <a:defRPr/>
            </a:pPr>
            <a:r>
              <a:rPr lang="en-GB"/>
              <a:t>Fourth level</a:t>
            </a:r>
            <a:endParaRPr lang="en-GB"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158686223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24/03/2026</a:t>
            </a:fld>
            <a:endParaRPr lang="en-GB"/>
          </a:p>
        </p:txBody>
      </p:sp>
      <p:sp>
        <p:nvSpPr>
          <p:cNvPr id="56076749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4853403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&lt;#&gt;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9268613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72227947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166723579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 lang="en-GB"/>
          </a:p>
          <a:p>
            <a:pPr lvl="1">
              <a:defRPr/>
            </a:pPr>
            <a:r>
              <a:rPr lang="en-GB"/>
              <a:t>Second level</a:t>
            </a:r>
            <a:endParaRPr lang="en-GB"/>
          </a:p>
          <a:p>
            <a:pPr lvl="2">
              <a:defRPr/>
            </a:pPr>
            <a:r>
              <a:rPr lang="en-GB"/>
              <a:t>Third level</a:t>
            </a:r>
            <a:endParaRPr lang="en-GB"/>
          </a:p>
          <a:p>
            <a:pPr lvl="3">
              <a:defRPr/>
            </a:pPr>
            <a:r>
              <a:rPr lang="en-GB"/>
              <a:t>Fourth level</a:t>
            </a:r>
            <a:endParaRPr lang="en-GB"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1623788140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179194757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 lang="en-GB"/>
          </a:p>
          <a:p>
            <a:pPr lvl="1">
              <a:defRPr/>
            </a:pPr>
            <a:r>
              <a:rPr lang="en-GB"/>
              <a:t>Second level</a:t>
            </a:r>
            <a:endParaRPr lang="en-GB"/>
          </a:p>
          <a:p>
            <a:pPr lvl="2">
              <a:defRPr/>
            </a:pPr>
            <a:r>
              <a:rPr lang="en-GB"/>
              <a:t>Third level</a:t>
            </a:r>
            <a:endParaRPr lang="en-GB"/>
          </a:p>
          <a:p>
            <a:pPr lvl="3">
              <a:defRPr/>
            </a:pPr>
            <a:r>
              <a:rPr lang="en-GB"/>
              <a:t>Fourth level</a:t>
            </a:r>
            <a:endParaRPr lang="en-GB"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34159759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24/03/2026</a:t>
            </a:fld>
            <a:endParaRPr lang="en-GB"/>
          </a:p>
        </p:txBody>
      </p:sp>
      <p:sp>
        <p:nvSpPr>
          <p:cNvPr id="88393585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2597874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&lt;#&gt;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097947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57611521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24/03/2026</a:t>
            </a:fld>
            <a:endParaRPr lang="en-GB"/>
          </a:p>
        </p:txBody>
      </p:sp>
      <p:sp>
        <p:nvSpPr>
          <p:cNvPr id="189279653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250188428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&lt;#&gt;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148732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24/03/2026</a:t>
            </a:fld>
            <a:endParaRPr lang="en-GB"/>
          </a:p>
        </p:txBody>
      </p:sp>
      <p:sp>
        <p:nvSpPr>
          <p:cNvPr id="74164026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07789111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&lt;#&gt;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1902948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320124107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 lang="en-GB"/>
          </a:p>
          <a:p>
            <a:pPr lvl="1">
              <a:defRPr/>
            </a:pPr>
            <a:r>
              <a:rPr lang="en-GB"/>
              <a:t>Second level</a:t>
            </a:r>
            <a:endParaRPr lang="en-GB"/>
          </a:p>
          <a:p>
            <a:pPr lvl="2">
              <a:defRPr/>
            </a:pPr>
            <a:r>
              <a:rPr lang="en-GB"/>
              <a:t>Third level</a:t>
            </a:r>
            <a:endParaRPr lang="en-GB"/>
          </a:p>
          <a:p>
            <a:pPr lvl="3">
              <a:defRPr/>
            </a:pPr>
            <a:r>
              <a:rPr lang="en-GB"/>
              <a:t>Fourth level</a:t>
            </a:r>
            <a:endParaRPr lang="en-GB"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172759534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93854167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24/03/2026</a:t>
            </a:fld>
            <a:endParaRPr lang="en-GB"/>
          </a:p>
        </p:txBody>
      </p:sp>
      <p:sp>
        <p:nvSpPr>
          <p:cNvPr id="38712447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7965614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&lt;#&gt;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888241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639703832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GB"/>
              <a:t>Click icon to add picture</a:t>
            </a:r>
            <a:endParaRPr lang="en-GB"/>
          </a:p>
        </p:txBody>
      </p:sp>
      <p:sp>
        <p:nvSpPr>
          <p:cNvPr id="185029640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167097516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24/03/2026</a:t>
            </a:fld>
            <a:endParaRPr lang="en-GB"/>
          </a:p>
        </p:txBody>
      </p:sp>
      <p:sp>
        <p:nvSpPr>
          <p:cNvPr id="68235924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14262764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&lt;#&gt;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24881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53559240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GB"/>
              <a:t>Click to edit Master text styles</a:t>
            </a:r>
            <a:endParaRPr lang="en-GB"/>
          </a:p>
          <a:p>
            <a:pPr lvl="1">
              <a:defRPr/>
            </a:pPr>
            <a:r>
              <a:rPr lang="en-GB"/>
              <a:t>Second level</a:t>
            </a:r>
            <a:endParaRPr lang="en-GB"/>
          </a:p>
          <a:p>
            <a:pPr lvl="2">
              <a:defRPr/>
            </a:pPr>
            <a:r>
              <a:rPr lang="en-GB"/>
              <a:t>Third level</a:t>
            </a:r>
            <a:endParaRPr lang="en-GB"/>
          </a:p>
          <a:p>
            <a:pPr lvl="3">
              <a:defRPr/>
            </a:pPr>
            <a:r>
              <a:rPr lang="en-GB"/>
              <a:t>Fourth level</a:t>
            </a:r>
            <a:endParaRPr lang="en-GB"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30857876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24/03/2026</a:t>
            </a:fld>
            <a:endParaRPr lang="en-GB"/>
          </a:p>
        </p:txBody>
      </p:sp>
      <p:sp>
        <p:nvSpPr>
          <p:cNvPr id="55220817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6333196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&lt;#&gt;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0457660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78655319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GB"/>
              <a:t>Click to edit Master text styles</a:t>
            </a:r>
            <a:endParaRPr lang="en-GB"/>
          </a:p>
          <a:p>
            <a:pPr lvl="1">
              <a:defRPr/>
            </a:pPr>
            <a:r>
              <a:rPr lang="en-GB"/>
              <a:t>Second level</a:t>
            </a:r>
            <a:endParaRPr lang="en-GB"/>
          </a:p>
          <a:p>
            <a:pPr lvl="2">
              <a:defRPr/>
            </a:pPr>
            <a:r>
              <a:rPr lang="en-GB"/>
              <a:t>Third level</a:t>
            </a:r>
            <a:endParaRPr lang="en-GB"/>
          </a:p>
          <a:p>
            <a:pPr lvl="3">
              <a:defRPr/>
            </a:pPr>
            <a:r>
              <a:rPr lang="en-GB"/>
              <a:t>Fourth level</a:t>
            </a:r>
            <a:endParaRPr lang="en-GB"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194123160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24/03/2026</a:t>
            </a:fld>
            <a:endParaRPr lang="en-GB"/>
          </a:p>
        </p:txBody>
      </p:sp>
      <p:sp>
        <p:nvSpPr>
          <p:cNvPr id="201807439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42678578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&lt;#&gt;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2483120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21747417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GB"/>
              <a:t>Click to edit Master text styles</a:t>
            </a:r>
            <a:endParaRPr lang="en-GB"/>
          </a:p>
          <a:p>
            <a:pPr lvl="1">
              <a:defRPr/>
            </a:pPr>
            <a:r>
              <a:rPr lang="en-GB"/>
              <a:t>Second level</a:t>
            </a:r>
            <a:endParaRPr lang="en-GB"/>
          </a:p>
          <a:p>
            <a:pPr lvl="2">
              <a:defRPr/>
            </a:pPr>
            <a:r>
              <a:rPr lang="en-GB"/>
              <a:t>Third level</a:t>
            </a:r>
            <a:endParaRPr lang="en-GB"/>
          </a:p>
          <a:p>
            <a:pPr lvl="3">
              <a:defRPr/>
            </a:pPr>
            <a:r>
              <a:rPr lang="en-GB"/>
              <a:t>Fourth level</a:t>
            </a:r>
            <a:endParaRPr lang="en-GB"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128957497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GB"/>
              <a:t>24/03/2026</a:t>
            </a:fld>
            <a:endParaRPr lang="en-GB"/>
          </a:p>
        </p:txBody>
      </p:sp>
      <p:sp>
        <p:nvSpPr>
          <p:cNvPr id="41186427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70590783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GB"/>
              <a:t>1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jp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jp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jp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jp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.pn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.jp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www.google.com/search?sca_esv=a7d38202f4f38a7c&amp;biw=1366&amp;bih=633&amp;sxsrf=ANbL-n4DlDXTAdb4sfxzm1vGAOsLwJ0obw:1773903543041&amp;q=disturbance&amp;si=AL3DRZE_xiDg-d6tsHNNJuabyRZWHShNe1uqA8ia_eB-4Tqj4ZfHAtwxAe9EYhQP1WTJM3oqEEFlhlI3tMbNvGFKVsxZ7DheU64Q4UvPP1Ntc3tdVZ0dVao%3D&amp;expnd=1&amp;sa=X&amp;sqi=2&amp;ved=2ahUKEwjtzLHUsauTAxVnUGwGHf7TDWkQyecJegQIHxAe" TargetMode="Externa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1.jpg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2.png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3.jpg"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4.png"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5.jpg"/></Relationships>
</file>

<file path=ppt/slides/_rels/slide5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6.gif"/></Relationships>
</file>

<file path=ppt/slides/_rels/slide5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936068" name="Title 1"/>
          <p:cNvSpPr>
            <a:spLocks noGrp="1"/>
          </p:cNvSpPr>
          <p:nvPr>
            <p:ph type="ctrTitle"/>
          </p:nvPr>
        </p:nvSpPr>
        <p:spPr bwMode="auto">
          <a:xfrm>
            <a:off x="303249" y="650874"/>
            <a:ext cx="11112499" cy="1635124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/>
          <a:p>
            <a:pPr>
              <a:defRPr/>
            </a:pPr>
            <a:r>
              <a:rPr lang="en-GB" sz="4800"/>
              <a:t>UNIT IV </a:t>
            </a:r>
            <a:br>
              <a:rPr lang="en-GB" sz="4800"/>
            </a:br>
            <a:r>
              <a:rPr lang="en-GB" sz="4800"/>
              <a:t>CORROSION AND ITS CONTROL</a:t>
            </a:r>
            <a:endParaRPr sz="4800"/>
          </a:p>
        </p:txBody>
      </p:sp>
      <p:sp>
        <p:nvSpPr>
          <p:cNvPr id="1621006327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5129249" y="2873373"/>
            <a:ext cx="5524499" cy="357187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0000" lnSpcReduction="4000"/>
          </a:bodyPr>
          <a:lstStyle/>
          <a:p>
            <a:pPr algn="just">
              <a:defRPr/>
            </a:pPr>
            <a:r>
              <a:rPr lang="en-GB"/>
              <a:t>1</a:t>
            </a:r>
            <a:r>
              <a:rPr lang="en-GB" sz="2800">
                <a:latin typeface="Times New Roman"/>
                <a:ea typeface="Times New Roman"/>
                <a:cs typeface="Times New Roman"/>
              </a:rPr>
              <a:t>.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Corrosion is a natural chemical or electrochemical process in which a refined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metal gradually transforms into a more stable compound</a:t>
            </a:r>
            <a:r>
              <a:rPr lang="en-GB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such as an oxide, hydroxide, or sulphide-through reactions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with its environment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. </a:t>
            </a:r>
            <a:endParaRPr lang="en-GB" sz="2800">
              <a:latin typeface="Times New Roman"/>
              <a:ea typeface="Times New Roman"/>
              <a:cs typeface="Times New Roman"/>
            </a:endParaRPr>
          </a:p>
          <a:p>
            <a:pPr algn="just">
              <a:defRPr/>
            </a:pPr>
            <a:endParaRPr sz="2800">
              <a:latin typeface="Times New Roman"/>
              <a:cs typeface="Times New Roman"/>
            </a:endParaRPr>
          </a:p>
          <a:p>
            <a:pPr algn="just"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2.This transformation results in the degradation of the metal's physical and mechanical properties, often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weakening its structure and impairing its performance</a:t>
            </a:r>
            <a:endParaRPr sz="280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pic>
        <p:nvPicPr>
          <p:cNvPr id="1706556726" name=""/>
          <p:cNvPicPr>
            <a:picLocks noChangeAspect="1"/>
          </p:cNvPicPr>
          <p:nvPr/>
        </p:nvPicPr>
        <p:blipFill rotWithShape="1">
          <a:blip r:embed="rId3"/>
          <a:srcRect l="0" t="9100" r="0" b="7986"/>
          <a:stretch/>
        </p:blipFill>
        <p:spPr bwMode="auto">
          <a:xfrm flipH="0" flipV="0">
            <a:off x="461999" y="2873373"/>
            <a:ext cx="4063999" cy="3444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596306" name="Content Placeholder 2"/>
          <p:cNvSpPr>
            <a:spLocks noGrp="1"/>
          </p:cNvSpPr>
          <p:nvPr>
            <p:ph idx="1"/>
          </p:nvPr>
        </p:nvSpPr>
        <p:spPr bwMode="auto">
          <a:xfrm>
            <a:off x="838198" y="682623"/>
            <a:ext cx="10515600" cy="5494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b="1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</a:rPr>
              <a:t>Definition</a:t>
            </a:r>
            <a:endParaRPr>
              <a:latin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Corrosion of metals is defined as the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natural deterioration of metals resulting from their chemical, electrochemical, or biochemical reactions with the surrounding environment</a:t>
            </a:r>
            <a:r>
              <a:rPr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Example Rusting of iron</a:t>
            </a: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800" b="1" i="0" u="none" strike="noStrike" cap="none" spc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</a:rPr>
              <a:t>Classification of Corrosion</a:t>
            </a: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Based on the environment to which it is exposed, corrosion is divided into two types</a:t>
            </a: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"/>
              <a:buChar char="Ø"/>
              <a:defRPr/>
            </a:pP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Dry or chemical corrosion</a:t>
            </a:r>
            <a:endParaRPr sz="2800" b="0" i="0" u="none" strike="noStrike" cap="none" spc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>
              <a:buFont typeface="Wingdings"/>
              <a:buChar char="Ø"/>
              <a:defRPr/>
            </a:pP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Wet or electrochemical corrosion</a:t>
            </a:r>
            <a:endParaRPr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51538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Chemical corrosion</a:t>
            </a:r>
            <a:endParaRPr sz="44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GB" sz="44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21440883" name="Content Placeholder 2"/>
          <p:cNvSpPr>
            <a:spLocks noGrp="1"/>
          </p:cNvSpPr>
          <p:nvPr>
            <p:ph idx="1"/>
          </p:nvPr>
        </p:nvSpPr>
        <p:spPr bwMode="auto">
          <a:xfrm>
            <a:off x="838198" y="1254124"/>
            <a:ext cx="10515600" cy="49228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/>
          <a:p>
            <a:pPr marL="0" indent="0" algn="just">
              <a:lnSpc>
                <a:spcPct val="114999"/>
              </a:lnSpc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Chemical corrosion refers to the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gradual deterioration of a metal surface 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caused by a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direct reaction with a dry or non-electrolytic chemical environment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such as reactive gases such as oxy</a:t>
            </a:r>
            <a:r>
              <a:rPr sz="2800">
                <a:latin typeface="Times New Roman"/>
                <a:ea typeface="Times New Roman"/>
                <a:cs typeface="Times New Roman"/>
              </a:rPr>
              <a:t>gen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(O), hydrogen (Ha), hydrogen sulfide (H.S), sulfur dioxide (SO₂), nitrogen (Na) or non-conductive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liquids, without involving any electrochemical processes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lang="en-GB" sz="28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lnSpc>
                <a:spcPct val="114999"/>
              </a:lnSpc>
              <a:buFont typeface="Arial"/>
              <a:buNone/>
              <a:defRPr/>
            </a:pPr>
            <a:endParaRPr lang="en-GB"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lnSpc>
                <a:spcPct val="114999"/>
              </a:lnSpc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The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three main types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of chemical corrosion are as follows</a:t>
            </a:r>
            <a:endParaRPr lang="en-GB" sz="28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lnSpc>
                <a:spcPct val="114999"/>
              </a:lnSpc>
              <a:buFont typeface="Wingdings"/>
              <a:buChar char="Ø"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Oxidation corrosion or corrosion by oxygen</a:t>
            </a:r>
            <a:endParaRPr lang="en-GB"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lnSpc>
                <a:spcPct val="114999"/>
              </a:lnSpc>
              <a:buFont typeface="Wingdings"/>
              <a:buChar char="Ø"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Corrosion by hydrogen</a:t>
            </a:r>
            <a:endParaRPr lang="en-GB"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lnSpc>
                <a:spcPct val="114999"/>
              </a:lnSpc>
              <a:buFont typeface="Wingdings"/>
              <a:buChar char="Ø"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Liquid metal corrosion</a:t>
            </a: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1405563680" name=""/>
          <p:cNvPicPr>
            <a:picLocks noChangeAspect="1"/>
          </p:cNvPicPr>
          <p:nvPr/>
        </p:nvPicPr>
        <p:blipFill rotWithShape="1">
          <a:blip r:embed="rId3"/>
          <a:srcRect l="1931" t="0" r="-1930" b="9036"/>
          <a:stretch/>
        </p:blipFill>
        <p:spPr bwMode="auto">
          <a:xfrm flipH="0" flipV="0">
            <a:off x="8632824" y="3222624"/>
            <a:ext cx="2465424" cy="2539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95676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365124"/>
            <a:ext cx="10515600" cy="1127124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Oxidation corrosion or corrosion by oxygen</a:t>
            </a:r>
            <a:endParaRPr lang="en-GB" sz="44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280892195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7" y="1492248"/>
            <a:ext cx="7085052" cy="481012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0000" lnSpcReduction="4000"/>
          </a:bodyPr>
          <a:lstStyle/>
          <a:p>
            <a:pPr marL="0" indent="0">
              <a:buFont typeface="Arial"/>
              <a:buNone/>
              <a:defRPr/>
            </a:pP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oxidation corrosion is a form of chemical corrosion in which a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metal reacts with oxygen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usually at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elevated temperatures in the absence of moisture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-resulting in the formation of a metal oxide layer on its surface.</a:t>
            </a:r>
            <a:endParaRPr sz="2600"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2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(i) </a:t>
            </a:r>
            <a:r>
              <a:rPr lang="en-GB" sz="23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Oxidation occurs at the metal surface, resulting in the formation of metal ions </a:t>
            </a:r>
            <a:endParaRPr sz="26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2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                                  M </a:t>
            </a:r>
            <a:r>
              <a:rPr sz="2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−−−−− </a:t>
            </a:r>
            <a:r>
              <a:rPr sz="2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</a:t>
            </a:r>
            <a:r>
              <a:rPr sz="2600" b="0" i="0" u="none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2600" b="0" i="0" u="none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+ </a:t>
            </a:r>
            <a:r>
              <a:rPr sz="2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+ </a:t>
            </a:r>
            <a:r>
              <a:rPr sz="2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2e</a:t>
            </a:r>
            <a:r>
              <a:rPr sz="2600" b="0" i="0" u="none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−</a:t>
            </a:r>
            <a:endParaRPr sz="2600"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2600">
                <a:latin typeface="Times New Roman"/>
                <a:ea typeface="Times New Roman"/>
                <a:cs typeface="Times New Roman"/>
              </a:rPr>
              <a:t>(</a:t>
            </a:r>
            <a:r>
              <a:rPr lang="en-GB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ii</a:t>
            </a:r>
            <a:r>
              <a:rPr lang="en-GB" sz="22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) Oxygen is reduced to oxide ions by accepting electrons released from the metal </a:t>
            </a:r>
            <a:endParaRPr sz="2600"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2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                                        </a:t>
            </a:r>
            <a:r>
              <a:rPr sz="2600" b="0" i="0" u="none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2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⁄</a:t>
            </a:r>
            <a:r>
              <a:rPr sz="2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2O</a:t>
            </a:r>
            <a:r>
              <a:rPr sz="2600" b="0" i="0" u="none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 </a:t>
            </a:r>
            <a:r>
              <a:rPr sz="2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+ </a:t>
            </a:r>
            <a:r>
              <a:rPr sz="2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2e</a:t>
            </a:r>
            <a:r>
              <a:rPr sz="2600" b="0" i="0" u="none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− </a:t>
            </a:r>
            <a:r>
              <a:rPr sz="2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−−−−− </a:t>
            </a:r>
            <a:r>
              <a:rPr sz="2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</a:t>
            </a:r>
            <a:r>
              <a:rPr sz="2600" b="0" i="0" u="none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2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(i</a:t>
            </a:r>
            <a:r>
              <a:rPr lang="en-GB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2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i)</a:t>
            </a:r>
            <a:r>
              <a:rPr lang="en-GB" sz="25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oxide sons combine with metal ions to produce a metal oxide layer on the surface.</a:t>
            </a:r>
            <a:endParaRPr sz="2600"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2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                M </a:t>
            </a:r>
            <a:r>
              <a:rPr sz="2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+ </a:t>
            </a:r>
            <a:r>
              <a:rPr sz="2600" b="0" i="0" u="none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2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⁄</a:t>
            </a:r>
            <a:r>
              <a:rPr sz="2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2O</a:t>
            </a:r>
            <a:r>
              <a:rPr sz="2600" b="0" i="0" u="none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 </a:t>
            </a:r>
            <a:r>
              <a:rPr sz="2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−−−−− </a:t>
            </a:r>
            <a:r>
              <a:rPr sz="2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</a:t>
            </a:r>
            <a:r>
              <a:rPr sz="2600" b="0" i="0" u="none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2600" b="0" i="0" u="none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+ </a:t>
            </a:r>
            <a:r>
              <a:rPr sz="2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+ </a:t>
            </a:r>
            <a:r>
              <a:rPr sz="2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</a:t>
            </a:r>
            <a:r>
              <a:rPr sz="2600" b="0" i="0" u="none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2600" b="0" i="0" u="none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− </a:t>
            </a:r>
            <a:r>
              <a:rPr sz="2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≡ </a:t>
            </a:r>
            <a:r>
              <a:rPr sz="2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 (Metal-oxide film).</a:t>
            </a:r>
            <a:b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392778812" name=""/>
          <p:cNvPicPr>
            <a:picLocks noChangeAspect="1"/>
          </p:cNvPicPr>
          <p:nvPr/>
        </p:nvPicPr>
        <p:blipFill rotWithShape="1">
          <a:blip r:embed="rId3"/>
          <a:srcRect l="11632" t="7175" r="12854" b="0"/>
          <a:stretch/>
        </p:blipFill>
        <p:spPr bwMode="auto">
          <a:xfrm flipH="0" flipV="0">
            <a:off x="8415374" y="1682749"/>
            <a:ext cx="3349624" cy="3905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3768260" name="Title 1"/>
          <p:cNvSpPr>
            <a:spLocks noGrp="1"/>
          </p:cNvSpPr>
          <p:nvPr>
            <p:ph type="title"/>
          </p:nvPr>
        </p:nvSpPr>
        <p:spPr bwMode="auto">
          <a:xfrm>
            <a:off x="838198" y="365124"/>
            <a:ext cx="10515600" cy="2111374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endParaRPr sz="2600"/>
          </a:p>
        </p:txBody>
      </p:sp>
      <p:sp>
        <p:nvSpPr>
          <p:cNvPr id="553020400" name="Content Placeholder 2"/>
          <p:cNvSpPr>
            <a:spLocks noGrp="1"/>
          </p:cNvSpPr>
          <p:nvPr>
            <p:ph idx="1"/>
          </p:nvPr>
        </p:nvSpPr>
        <p:spPr bwMode="auto">
          <a:xfrm>
            <a:off x="838198" y="365124"/>
            <a:ext cx="10515600" cy="581183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25000" lnSpcReduction="15000"/>
          </a:bodyPr>
          <a:lstStyle/>
          <a:p>
            <a:pPr marL="0" indent="0">
              <a:buFont typeface="Arial"/>
              <a:buNone/>
              <a:defRPr/>
            </a:pPr>
            <a:endParaRPr sz="2800"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endParaRPr sz="28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sz="7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nature of oxide film formed on the metal surface plays an important role in oxidation corrosion.</a:t>
            </a:r>
            <a:endParaRPr sz="7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sz="7200" b="1" i="0" u="none">
                <a:solidFill>
                  <a:srgbClr val="92D050"/>
                </a:solidFill>
                <a:latin typeface="Times New Roman"/>
                <a:ea typeface="Times New Roman"/>
                <a:cs typeface="Times New Roman"/>
              </a:rPr>
              <a:t>1.Stable</a:t>
            </a:r>
            <a:r>
              <a:rPr sz="7200" b="1" i="0" u="none">
                <a:solidFill>
                  <a:srgbClr val="92D05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7200" b="1" i="0" u="none">
                <a:solidFill>
                  <a:srgbClr val="92D050"/>
                </a:solidFill>
                <a:latin typeface="Times New Roman"/>
                <a:ea typeface="Times New Roman"/>
                <a:cs typeface="Times New Roman"/>
              </a:rPr>
              <a:t>oxide</a:t>
            </a:r>
            <a:r>
              <a:rPr sz="7200" b="1" i="0" u="none">
                <a:solidFill>
                  <a:srgbClr val="92D05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7200" b="1" i="0" u="none">
                <a:solidFill>
                  <a:srgbClr val="92D050"/>
                </a:solidFill>
                <a:latin typeface="Times New Roman"/>
                <a:ea typeface="Times New Roman"/>
                <a:cs typeface="Times New Roman"/>
              </a:rPr>
              <a:t>layer</a:t>
            </a:r>
            <a:endParaRPr sz="7200">
              <a:latin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sz="7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stable oxide layer is a </a:t>
            </a:r>
            <a:r>
              <a:rPr sz="72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fine-grained in structure</a:t>
            </a:r>
            <a:r>
              <a:rPr sz="7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and gets </a:t>
            </a:r>
            <a:r>
              <a:rPr sz="72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adsorbed tightly</a:t>
            </a:r>
            <a:r>
              <a:rPr sz="7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to the metal surface. Such a layer is impervious in nature and stops further oxygen attack through diffusion. Such a film behaves as a protective coating and </a:t>
            </a:r>
            <a:r>
              <a:rPr sz="72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no further corrosion</a:t>
            </a:r>
            <a:r>
              <a:rPr sz="7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can develop.</a:t>
            </a:r>
            <a:endParaRPr sz="7200">
              <a:latin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sz="7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Example: Oxides of Al, Sn, Pb, Cu, etc., are stable oxide layers.</a:t>
            </a:r>
            <a:endParaRPr sz="7200">
              <a:latin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endParaRPr sz="7200">
              <a:latin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sz="7200" b="1" i="0" u="none">
                <a:solidFill>
                  <a:srgbClr val="92D050"/>
                </a:solidFill>
                <a:latin typeface="Times New Roman"/>
                <a:ea typeface="Times New Roman"/>
                <a:cs typeface="Times New Roman"/>
              </a:rPr>
              <a:t>2.Unstable</a:t>
            </a:r>
            <a:r>
              <a:rPr sz="7200" b="0" i="0" u="none">
                <a:solidFill>
                  <a:srgbClr val="92D05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7200" b="1" i="0" u="none">
                <a:solidFill>
                  <a:srgbClr val="92D050"/>
                </a:solidFill>
                <a:latin typeface="Times New Roman"/>
                <a:ea typeface="Times New Roman"/>
                <a:cs typeface="Times New Roman"/>
              </a:rPr>
              <a:t>oxide</a:t>
            </a:r>
            <a:r>
              <a:rPr sz="7200" b="0" i="0" u="none">
                <a:solidFill>
                  <a:srgbClr val="92D05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7200" b="1" i="0" u="none">
                <a:solidFill>
                  <a:srgbClr val="92D050"/>
                </a:solidFill>
                <a:latin typeface="Times New Roman"/>
                <a:ea typeface="Times New Roman"/>
                <a:cs typeface="Times New Roman"/>
              </a:rPr>
              <a:t>layer</a:t>
            </a:r>
            <a:endParaRPr sz="7200" b="1" i="0" u="none">
              <a:solidFill>
                <a:srgbClr val="92D05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sz="7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7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Unstable oxide layer is mainly produced on the surface of noble metals, which </a:t>
            </a:r>
            <a:r>
              <a:rPr sz="72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decomposes back</a:t>
            </a:r>
            <a:r>
              <a:rPr sz="7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into the metal and oxygen.</a:t>
            </a:r>
            <a:endParaRPr sz="7200">
              <a:latin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sz="7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Metal oxide  —-&gt;</a:t>
            </a:r>
            <a:r>
              <a:rPr sz="7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Metal</a:t>
            </a:r>
            <a:r>
              <a:rPr sz="7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+ </a:t>
            </a:r>
            <a:r>
              <a:rPr sz="7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Oxyge</a:t>
            </a:r>
            <a:r>
              <a:rPr sz="7200">
                <a:latin typeface="Times New Roman"/>
                <a:cs typeface="Times New Roman"/>
              </a:rPr>
              <a:t>n</a:t>
            </a:r>
            <a:endParaRPr sz="7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sz="7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Example: Oxides of Pt, Ag, etc., are unstable oxide layers.</a:t>
            </a:r>
            <a:endParaRPr sz="7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endParaRPr sz="7200">
              <a:latin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sz="7200" b="1" i="0" u="none">
                <a:solidFill>
                  <a:srgbClr val="92D050"/>
                </a:solidFill>
                <a:latin typeface="Times New Roman"/>
                <a:ea typeface="Times New Roman"/>
                <a:cs typeface="Times New Roman"/>
              </a:rPr>
              <a:t>3.</a:t>
            </a:r>
            <a:r>
              <a:rPr sz="7200" b="0" i="0" u="none">
                <a:solidFill>
                  <a:srgbClr val="92D05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7200" b="1" i="0" u="none">
                <a:solidFill>
                  <a:srgbClr val="92D050"/>
                </a:solidFill>
                <a:latin typeface="Times New Roman"/>
                <a:ea typeface="Times New Roman"/>
                <a:cs typeface="Times New Roman"/>
              </a:rPr>
              <a:t>Volatile</a:t>
            </a:r>
            <a:r>
              <a:rPr sz="7200" b="0" i="0" u="none">
                <a:solidFill>
                  <a:srgbClr val="92D05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7200" b="1" i="0" u="none">
                <a:solidFill>
                  <a:srgbClr val="92D050"/>
                </a:solidFill>
                <a:latin typeface="Times New Roman"/>
                <a:ea typeface="Times New Roman"/>
                <a:cs typeface="Times New Roman"/>
              </a:rPr>
              <a:t>oxide</a:t>
            </a:r>
            <a:r>
              <a:rPr sz="7200" b="0" i="0" u="none">
                <a:solidFill>
                  <a:srgbClr val="92D05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7200" b="1" i="0" u="none">
                <a:solidFill>
                  <a:srgbClr val="92D050"/>
                </a:solidFill>
                <a:latin typeface="Times New Roman"/>
                <a:ea typeface="Times New Roman"/>
                <a:cs typeface="Times New Roman"/>
              </a:rPr>
              <a:t>layer</a:t>
            </a:r>
            <a:endParaRPr sz="7200" b="1" i="0" u="none">
              <a:solidFill>
                <a:srgbClr val="92D05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sz="7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oxide layer </a:t>
            </a:r>
            <a:r>
              <a:rPr sz="72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volatilizes as soon as it is formed, leaving the metal surface</a:t>
            </a:r>
            <a:r>
              <a:rPr sz="7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for fu</a:t>
            </a:r>
            <a:r>
              <a:rPr sz="7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rther corrosion.</a:t>
            </a:r>
            <a:endParaRPr sz="7200">
              <a:latin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sz="7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Example:  Molybdenum oxide </a:t>
            </a:r>
            <a:r>
              <a:rPr sz="7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7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MoO</a:t>
            </a:r>
            <a:r>
              <a:rPr sz="7200" b="0" i="0" u="none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7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 </a:t>
            </a:r>
            <a:r>
              <a:rPr sz="7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is volatile.</a:t>
            </a:r>
            <a:endParaRPr sz="7200"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br>
              <a:rPr sz="7200"/>
            </a:br>
            <a:br>
              <a:rPr sz="7200"/>
            </a:br>
            <a:br>
              <a:rPr sz="7200"/>
            </a:br>
            <a:endParaRPr sz="7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98869" name="Content Placeholder 2"/>
          <p:cNvSpPr>
            <a:spLocks noGrp="1"/>
          </p:cNvSpPr>
          <p:nvPr>
            <p:ph idx="1"/>
          </p:nvPr>
        </p:nvSpPr>
        <p:spPr bwMode="auto">
          <a:xfrm>
            <a:off x="838198" y="523874"/>
            <a:ext cx="10515600" cy="565308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0000" lnSpcReduction="6000"/>
          </a:bodyPr>
          <a:lstStyle/>
          <a:p>
            <a:pPr marL="0" indent="0">
              <a:buFont typeface="Arial"/>
              <a:buNone/>
              <a:defRPr/>
            </a:pPr>
            <a:endParaRPr sz="1300" b="1" i="1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endParaRPr sz="1300" b="1" i="1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endParaRPr sz="2800" b="1" i="1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800" b="1" i="0" u="none" strike="noStrike" cap="none" spc="0">
                <a:solidFill>
                  <a:srgbClr val="92D050"/>
                </a:solidFill>
                <a:latin typeface="Times New Roman"/>
                <a:ea typeface="Times New Roman"/>
                <a:cs typeface="Times New Roman"/>
              </a:rPr>
              <a:t>4</a:t>
            </a:r>
            <a:r>
              <a:rPr lang="en-GB" sz="2800" b="1" i="0" u="none" strike="noStrike" cap="none" spc="0">
                <a:solidFill>
                  <a:srgbClr val="92D050"/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lang="en-GB" sz="2800" b="0" i="0" u="none" strike="noStrike" cap="none" spc="0">
                <a:solidFill>
                  <a:srgbClr val="92D05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GB" sz="2800" b="1" i="0" u="none" strike="noStrike" cap="none" spc="0">
                <a:solidFill>
                  <a:srgbClr val="92D050"/>
                </a:solidFill>
                <a:latin typeface="Times New Roman"/>
                <a:ea typeface="Times New Roman"/>
                <a:cs typeface="Times New Roman"/>
              </a:rPr>
              <a:t>Protective</a:t>
            </a:r>
            <a:r>
              <a:rPr lang="en-GB" sz="2800" b="0" i="0" u="none" strike="noStrike" cap="none" spc="0">
                <a:solidFill>
                  <a:srgbClr val="92D05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GB" sz="2800" b="1" i="0" u="none" strike="noStrike" cap="none" spc="0">
                <a:solidFill>
                  <a:srgbClr val="92D050"/>
                </a:solidFill>
                <a:latin typeface="Times New Roman"/>
                <a:ea typeface="Times New Roman"/>
                <a:cs typeface="Times New Roman"/>
              </a:rPr>
              <a:t>(or)</a:t>
            </a:r>
            <a:r>
              <a:rPr lang="en-GB" sz="2800" b="0" i="0" u="none" strike="noStrike" cap="none" spc="0">
                <a:solidFill>
                  <a:srgbClr val="92D05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GB" sz="2800" b="1" i="0" u="none" strike="noStrike" cap="none" spc="0">
                <a:solidFill>
                  <a:srgbClr val="92D050"/>
                </a:solidFill>
                <a:latin typeface="Times New Roman"/>
                <a:ea typeface="Times New Roman"/>
                <a:cs typeface="Times New Roman"/>
              </a:rPr>
              <a:t>Non-Protective</a:t>
            </a:r>
            <a:r>
              <a:rPr lang="en-GB" sz="2800" b="0" i="0" u="none" strike="noStrike" cap="none" spc="0">
                <a:solidFill>
                  <a:srgbClr val="92D05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GB" sz="2800" b="1" i="0" u="none" strike="noStrike" cap="none" spc="0">
                <a:solidFill>
                  <a:srgbClr val="92D050"/>
                </a:solidFill>
                <a:latin typeface="Times New Roman"/>
                <a:ea typeface="Times New Roman"/>
                <a:cs typeface="Times New Roman"/>
              </a:rPr>
              <a:t>oxide</a:t>
            </a:r>
            <a:r>
              <a:rPr lang="en-GB" sz="2800" b="0" i="0" u="none" strike="noStrike" cap="none" spc="0">
                <a:solidFill>
                  <a:srgbClr val="92D05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GB" sz="2800" b="1" i="0" u="none" strike="noStrike" cap="none" spc="0">
                <a:solidFill>
                  <a:srgbClr val="92D050"/>
                </a:solidFill>
                <a:latin typeface="Times New Roman"/>
                <a:ea typeface="Times New Roman"/>
                <a:cs typeface="Times New Roman"/>
              </a:rPr>
              <a:t>film</a:t>
            </a:r>
            <a:r>
              <a:rPr lang="en-GB" sz="2800" b="0" i="0" u="none" strike="noStrike" cap="none" spc="0">
                <a:solidFill>
                  <a:srgbClr val="92D05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GB" sz="2800" b="1" i="0" u="none" strike="noStrike" cap="none" spc="0">
                <a:solidFill>
                  <a:srgbClr val="92D050"/>
                </a:solidFill>
                <a:latin typeface="Times New Roman"/>
                <a:ea typeface="Times New Roman"/>
                <a:cs typeface="Times New Roman"/>
              </a:rPr>
              <a:t>(Pilling-Bedworth</a:t>
            </a:r>
            <a:r>
              <a:rPr lang="en-GB" sz="2800" b="0" i="0" u="none" strike="noStrike" cap="none" spc="0">
                <a:solidFill>
                  <a:srgbClr val="92D05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GB" sz="2800" b="1" i="0" u="none" strike="noStrike" cap="none" spc="0">
                <a:solidFill>
                  <a:srgbClr val="92D050"/>
                </a:solidFill>
                <a:latin typeface="Times New Roman"/>
                <a:ea typeface="Times New Roman"/>
                <a:cs typeface="Times New Roman"/>
              </a:rPr>
              <a:t>rule)</a:t>
            </a:r>
            <a:endParaRPr sz="28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(i) According to Pilling-Bedworth rule, if the volume of the oxide layer formed is less than the volume of the metal, the oxide layer is porous and non-protective.</a:t>
            </a:r>
            <a:endParaRPr sz="2800"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Example</a:t>
            </a:r>
            <a:r>
              <a:rPr lang="en-GB" sz="2800" b="0" i="1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:</a:t>
            </a:r>
            <a:r>
              <a:rPr lang="en-GB" sz="2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volume of oxides of alkali and alkaline earth metals such as Na, Mg, Ca, etc., is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less </a:t>
            </a:r>
            <a:r>
              <a:rPr lang="en-GB" sz="2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than the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volume of the metal consumed</a:t>
            </a:r>
            <a:r>
              <a:rPr lang="en-GB" sz="2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Hence the oxide layer formed is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porous and non-protective.</a:t>
            </a:r>
            <a:endParaRPr sz="280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(ii) On the other hand, if the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volume of the oxide lay</a:t>
            </a:r>
            <a:r>
              <a:rPr lang="en-GB" sz="2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er formed is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greater tha</a:t>
            </a:r>
            <a:r>
              <a:rPr lang="en-GB" sz="2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 the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volume of the metal, </a:t>
            </a:r>
            <a:r>
              <a:rPr lang="en-GB" sz="2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oxide layer is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non-porous and protective.</a:t>
            </a:r>
            <a:endParaRPr sz="2800"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Example</a:t>
            </a:r>
            <a:r>
              <a:rPr lang="en-GB" sz="2800" b="0" i="1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:</a:t>
            </a:r>
            <a:r>
              <a:rPr lang="en-GB" sz="2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volume of oxides of heavy metals such as Pb, Sn, etc., is greater than the volume of the metal. Hence the oxide layer formed is non-porous and protective</a:t>
            </a:r>
            <a:r>
              <a:rPr lang="en-GB" sz="2800" b="0" i="1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br>
              <a:rPr lang="en-GB" sz="2800" b="0" i="1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endParaRPr sz="2800" b="1" i="1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2800" b="1" i="1" u="none">
                <a:solidFill>
                  <a:srgbClr val="92D050"/>
                </a:solidFill>
                <a:latin typeface="Times New Roman"/>
                <a:ea typeface="Times New Roman"/>
                <a:cs typeface="Times New Roman"/>
              </a:rPr>
              <a:t>Pilling-Bedworth</a:t>
            </a:r>
            <a:r>
              <a:rPr sz="2800" b="0" i="1" u="none">
                <a:solidFill>
                  <a:srgbClr val="92D05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800" b="1" i="1" u="none">
                <a:solidFill>
                  <a:srgbClr val="92D050"/>
                </a:solidFill>
                <a:latin typeface="Times New Roman"/>
                <a:ea typeface="Times New Roman"/>
                <a:cs typeface="Times New Roman"/>
              </a:rPr>
              <a:t>ratio</a:t>
            </a:r>
            <a:endParaRPr sz="2800" b="1" i="1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The ratio of the volume of the metal oxide formed to the volume of the metal consumed is call</a:t>
            </a: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ed “Pilling-B</a:t>
            </a: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edworth ratio”.</a:t>
            </a:r>
            <a:endParaRPr sz="2800"/>
          </a:p>
          <a:p>
            <a:pPr marL="0" indent="0">
              <a:buFont typeface="Arial"/>
              <a:buNone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If the </a:t>
            </a:r>
            <a:r>
              <a:rPr sz="28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PB ratio is slightly greater than 1</a:t>
            </a: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the metal oxide layer will be </a:t>
            </a:r>
            <a:r>
              <a:rPr sz="28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protective and non porous</a:t>
            </a: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b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1956710" name="Content Placeholder 2"/>
          <p:cNvSpPr>
            <a:spLocks noGrp="1"/>
          </p:cNvSpPr>
          <p:nvPr>
            <p:ph idx="1"/>
          </p:nvPr>
        </p:nvSpPr>
        <p:spPr bwMode="auto">
          <a:xfrm>
            <a:off x="838198" y="190499"/>
            <a:ext cx="10515600" cy="598646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0000" lnSpcReduction="4000"/>
          </a:bodyPr>
          <a:lstStyle/>
          <a:p>
            <a:pPr marL="0" indent="0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</a:rPr>
              <a:t>(ii) Corrosion by hydrogen:</a:t>
            </a: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Hydrogen corrosion refers to the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degradation of metals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resulting from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exposure to hydrogen hydrogen-containing substances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800" b="1" i="0" u="none" strike="noStrike" cap="none" spc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</a:rPr>
              <a:t>1.</a:t>
            </a:r>
            <a:r>
              <a:rPr lang="en-GB" sz="2800" b="0" i="0" u="none" strike="noStrike" cap="none" spc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GB" sz="2800" b="1" i="0" u="none" strike="noStrike" cap="none" spc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</a:rPr>
              <a:t>Hydrogen</a:t>
            </a:r>
            <a:r>
              <a:rPr lang="en-GB" sz="2800" b="0" i="0" u="none" strike="noStrike" cap="none" spc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GB" sz="2800" b="1" i="0" u="none" strike="noStrike" cap="none" spc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</a:rPr>
              <a:t>embrittlement</a:t>
            </a:r>
            <a:r>
              <a:rPr lang="en-GB" sz="2800" b="0" i="0" u="none" strike="noStrike" cap="none" spc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GB" sz="2800" b="1" i="0" u="none" strike="noStrike" cap="none" spc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</a:rPr>
              <a:t>(at</a:t>
            </a:r>
            <a:r>
              <a:rPr lang="en-GB" sz="2800" b="0" i="0" u="none" strike="noStrike" cap="none" spc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GB" sz="2800" b="1" i="0" u="none" strike="noStrike" cap="none" spc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</a:rPr>
              <a:t>ordinary</a:t>
            </a:r>
            <a:r>
              <a:rPr lang="en-GB" sz="2800" b="0" i="0" u="none" strike="noStrike" cap="none" spc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GB" sz="2800" b="1" i="0" u="none" strike="noStrike" cap="none" spc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</a:rPr>
              <a:t>temperature)</a:t>
            </a:r>
            <a:endParaRPr sz="2800"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When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metals contact to H</a:t>
            </a:r>
            <a:r>
              <a:rPr lang="en-GB" sz="2800" b="0" i="0" u="none" strike="noStrike" cap="none" spc="0" baseline="-25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lang="en-GB" sz="2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at ordinary temperature causes evolution of atomic hydrogen.</a:t>
            </a:r>
            <a:endParaRPr sz="2800">
              <a:latin typeface="Times New Roman"/>
              <a:cs typeface="Times New Roman"/>
            </a:endParaRPr>
          </a:p>
          <a:p>
            <a:pPr marL="0" indent="0" algn="ctr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Fe </a:t>
            </a:r>
            <a:r>
              <a:rPr lang="en-GB" sz="2800" b="0" i="0" u="none" strike="noStrike" cap="none" spc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+ </a:t>
            </a:r>
            <a:r>
              <a:rPr lang="en-GB" sz="2800" b="0" i="0" u="none" strike="noStrike" cap="none" spc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H</a:t>
            </a:r>
            <a:r>
              <a:rPr lang="en-GB" sz="2800" b="0" i="0" u="none" strike="noStrike" cap="none" spc="0" baseline="-250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lang="en-GB" sz="2800" b="0" i="0" u="none" strike="noStrike" cap="none" spc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S </a:t>
            </a:r>
            <a:r>
              <a:rPr lang="en-GB" sz="2800" b="0" i="0" u="none" strike="noStrike" cap="none" spc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−−−−− </a:t>
            </a:r>
            <a:r>
              <a:rPr lang="en-GB" sz="2800" b="0" i="0" u="none" strike="noStrike" cap="none" spc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FeS </a:t>
            </a:r>
            <a:r>
              <a:rPr lang="en-GB" sz="2800" b="0" i="0" u="none" strike="noStrike" cap="none" spc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+ </a:t>
            </a:r>
            <a:r>
              <a:rPr lang="en-GB" sz="2800" b="0" i="0" u="none" strike="noStrike" cap="none" spc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2H</a:t>
            </a:r>
            <a:endParaRPr sz="2800"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This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atomic hydrogen diffuses</a:t>
            </a:r>
            <a:r>
              <a:rPr lang="en-GB" sz="2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readily into the metal and collects in the voids, where it recombines to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form molecular hydrogen</a:t>
            </a:r>
            <a:r>
              <a:rPr lang="en-GB" sz="2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  <a:p>
            <a:pPr marL="0" indent="0" algn="ctr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H </a:t>
            </a:r>
            <a:r>
              <a:rPr lang="en-GB" sz="2800" b="0" i="0" u="none" strike="noStrike" cap="none" spc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+ </a:t>
            </a:r>
            <a:r>
              <a:rPr lang="en-GB" sz="2800" b="0" i="0" u="none" strike="noStrike" cap="none" spc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H </a:t>
            </a:r>
            <a:r>
              <a:rPr lang="en-GB" sz="2800" b="0" i="0" u="none" strike="noStrike" cap="none" spc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−−−−− </a:t>
            </a:r>
            <a:r>
              <a:rPr lang="en-GB" sz="2800" b="0" i="0" u="none" strike="noStrike" cap="none" spc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H</a:t>
            </a:r>
            <a:r>
              <a:rPr lang="en-GB" sz="2800" b="0" i="0" u="none" strike="noStrike" cap="none" spc="0" baseline="-250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lang="en-GB" sz="2800" b="0" i="0" u="none" strike="noStrike" cap="none" spc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↑</a:t>
            </a:r>
            <a:endParaRPr sz="2800">
              <a:latin typeface="Times New Roman"/>
              <a:cs typeface="Times New Roman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Collection of these hydrogen gases in the voids develop v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ery high pressure,</a:t>
            </a:r>
            <a:r>
              <a:rPr lang="en-GB" sz="2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which causes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cracks and blisters on metal.</a:t>
            </a:r>
            <a:endParaRPr sz="2800">
              <a:latin typeface="Times New Roman"/>
              <a:cs typeface="Times New Roman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Thus, the process of formation of cracks and blisters on the metal surface, due to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high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pressure of hydrogen gas is called hydrogen embrittlement</a:t>
            </a:r>
            <a:br>
              <a:rPr lang="en-GB" sz="2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endParaRPr sz="2800"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endParaRPr lang="en-GB" sz="2800" b="0" i="0" u="none" strike="noStrike" cap="none" spc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7595941" name="Content Placeholder 2"/>
          <p:cNvSpPr>
            <a:spLocks noGrp="1"/>
          </p:cNvSpPr>
          <p:nvPr>
            <p:ph idx="1"/>
          </p:nvPr>
        </p:nvSpPr>
        <p:spPr bwMode="auto">
          <a:xfrm>
            <a:off x="838198" y="952499"/>
            <a:ext cx="10515600" cy="522446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5000" lnSpcReduction="5000"/>
          </a:bodyPr>
          <a:lstStyle/>
          <a:p>
            <a:pPr marL="0" indent="0">
              <a:buFont typeface="Arial"/>
              <a:buNone/>
              <a:defRPr/>
            </a:pPr>
            <a:b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lang="en-GB" sz="2600" b="1" i="0" u="none" strike="noStrike" cap="none" spc="0">
                <a:solidFill>
                  <a:srgbClr val="92D050"/>
                </a:solidFill>
                <a:latin typeface="Times New Roman"/>
                <a:ea typeface="Times New Roman"/>
                <a:cs typeface="Times New Roman"/>
              </a:rPr>
              <a:t>2.</a:t>
            </a:r>
            <a:r>
              <a:rPr lang="en-GB" sz="2600" b="0" i="0" u="none" strike="noStrike" cap="none" spc="0">
                <a:solidFill>
                  <a:srgbClr val="92D05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GB" sz="2600" b="1" i="0" u="none" strike="noStrike" cap="none" spc="0">
                <a:solidFill>
                  <a:srgbClr val="92D050"/>
                </a:solidFill>
                <a:latin typeface="Times New Roman"/>
                <a:ea typeface="Times New Roman"/>
                <a:cs typeface="Times New Roman"/>
              </a:rPr>
              <a:t>Decarburisation</a:t>
            </a:r>
            <a:r>
              <a:rPr lang="en-GB" sz="2600" b="0" i="0" u="none" strike="noStrike" cap="none" spc="0">
                <a:solidFill>
                  <a:srgbClr val="92D05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GB" sz="2600" b="1" i="0" u="none" strike="noStrike" cap="none" spc="0">
                <a:solidFill>
                  <a:srgbClr val="92D050"/>
                </a:solidFill>
                <a:latin typeface="Times New Roman"/>
                <a:ea typeface="Times New Roman"/>
                <a:cs typeface="Times New Roman"/>
              </a:rPr>
              <a:t>(at</a:t>
            </a:r>
            <a:r>
              <a:rPr lang="en-GB" sz="2600" b="0" i="0" u="none" strike="noStrike" cap="none" spc="0">
                <a:solidFill>
                  <a:srgbClr val="92D05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GB" sz="2600" b="1" i="0" u="none" strike="noStrike" cap="none" spc="0">
                <a:solidFill>
                  <a:srgbClr val="92D050"/>
                </a:solidFill>
                <a:latin typeface="Times New Roman"/>
                <a:ea typeface="Times New Roman"/>
                <a:cs typeface="Times New Roman"/>
              </a:rPr>
              <a:t>higher</a:t>
            </a:r>
            <a:r>
              <a:rPr lang="en-GB" sz="2600" b="0" i="0" u="none" strike="noStrike" cap="none" spc="0">
                <a:solidFill>
                  <a:srgbClr val="92D05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GB" sz="2600" b="1" i="0" u="none" strike="noStrike" cap="none" spc="0">
                <a:solidFill>
                  <a:srgbClr val="92D050"/>
                </a:solidFill>
                <a:latin typeface="Times New Roman"/>
                <a:ea typeface="Times New Roman"/>
                <a:cs typeface="Times New Roman"/>
              </a:rPr>
              <a:t>temperature</a:t>
            </a:r>
            <a:r>
              <a:rPr lang="en-GB" sz="26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</a:t>
            </a:r>
            <a:endParaRPr sz="2600"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reduction of carbon content in steel is known as decarburization.</a:t>
            </a:r>
            <a:endParaRPr lang="en-GB" sz="2600" b="0" i="0" u="none" strike="noStrike" cap="none" spc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when steel is exposed to a hydrogen-rich environmment at high temperatures,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 a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tomic hydrogen</a:t>
            </a:r>
            <a:r>
              <a:rPr lang="en-GB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is generated</a:t>
            </a:r>
            <a:r>
              <a:rPr lang="en-GB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lang="en-GB" sz="2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</a:t>
            </a:r>
            <a:r>
              <a:rPr lang="en-GB" sz="2600" b="0" i="0" u="none" strike="noStrike" cap="none" spc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 </a:t>
            </a:r>
            <a:r>
              <a:rPr lang="en-GB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−−−−− </a:t>
            </a:r>
            <a:r>
              <a:rPr lang="en-GB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2H</a:t>
            </a:r>
            <a:endParaRPr sz="2600"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Atomic hydrogen </a:t>
            </a:r>
            <a:r>
              <a:rPr lang="en-GB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reacts with the carbon in the steel to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form methane gas</a:t>
            </a:r>
            <a:r>
              <a:rPr lang="en-GB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(CH4)</a:t>
            </a:r>
            <a:r>
              <a:rPr lang="en-GB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lang="en-GB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 </a:t>
            </a:r>
            <a:r>
              <a:rPr lang="en-GB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+ </a:t>
            </a:r>
            <a:r>
              <a:rPr lang="en-GB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4H </a:t>
            </a:r>
            <a:r>
              <a:rPr lang="en-GB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−−−−− </a:t>
            </a:r>
            <a:r>
              <a:rPr lang="en-GB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</a:t>
            </a:r>
            <a:r>
              <a:rPr lang="en-GB" sz="2600" b="0" i="0" u="none" strike="noStrike" cap="none" spc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</a:t>
            </a:r>
            <a:r>
              <a:rPr lang="en-GB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↑</a:t>
            </a:r>
            <a:endParaRPr sz="2600"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Collection of these gases</a:t>
            </a:r>
            <a:r>
              <a:rPr lang="en-GB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in the voids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develop very high pressure</a:t>
            </a:r>
            <a:r>
              <a:rPr lang="en-GB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which causes cracking. Thus the process of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decrease in carbon content</a:t>
            </a:r>
            <a:r>
              <a:rPr lang="en-GB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in steel is termed as “decarburisation” of steel.</a:t>
            </a:r>
            <a:endParaRPr lang="en-GB" sz="26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600" b="1" i="0" u="none" strike="noStrike" cap="none" spc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Liquid metal corrusion:</a:t>
            </a:r>
            <a:endParaRPr sz="2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(iii)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when a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solid metal is exposed to a liquid metal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resulting in processes such as dissolution, penetration, or alloy formation at their interface. This interaction can significantly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weaken the structural integrity 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of the solid metal particularly at high temperatures</a:t>
            </a:r>
            <a:endParaRPr sz="2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"/>
              <a:buChar char="Ø"/>
              <a:defRPr/>
            </a:pP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The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gradual absorption or breakdown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of a solid metal when it comes into contact with a liquid metal.</a:t>
            </a:r>
            <a:endParaRPr sz="2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"/>
              <a:buChar char="Ø"/>
              <a:defRPr/>
            </a:pP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The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infiltration of a liquid metal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into the structure of a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solid metal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0423829" name="Title 1"/>
          <p:cNvSpPr>
            <a:spLocks noGrp="1"/>
          </p:cNvSpPr>
          <p:nvPr>
            <p:ph type="title"/>
          </p:nvPr>
        </p:nvSpPr>
        <p:spPr bwMode="auto">
          <a:xfrm>
            <a:off x="838198" y="365124"/>
            <a:ext cx="10515600" cy="765968"/>
          </a:xfrm>
        </p:spPr>
        <p:txBody>
          <a:bodyPr/>
          <a:lstStyle/>
          <a:p>
            <a:pPr algn="ctr">
              <a:defRPr/>
            </a:pPr>
            <a:r>
              <a:rPr lang="en-GB" sz="4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Electrochemical corrosion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806274779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7" y="1444624"/>
            <a:ext cx="7259676" cy="473233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50000" lnSpcReduction="10000"/>
          </a:bodyPr>
          <a:lstStyle/>
          <a:p>
            <a:pPr marL="0" indent="0" algn="just">
              <a:buFont typeface="Arial"/>
              <a:buNone/>
              <a:defRPr/>
            </a:pPr>
            <a:r>
              <a:rPr lang="en-GB" sz="3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Electrochemical corrosion occurs under the following</a:t>
            </a:r>
            <a:r>
              <a:rPr lang="en-GB" sz="3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 two conditions</a:t>
            </a:r>
            <a:endParaRPr sz="3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GB" sz="3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When </a:t>
            </a:r>
            <a:r>
              <a:rPr lang="en-GB" sz="3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two dissimilar metals come into contact</a:t>
            </a:r>
            <a:r>
              <a:rPr lang="en-GB" sz="3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in the presence of </a:t>
            </a:r>
            <a:r>
              <a:rPr lang="en-GB" sz="3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moisture </a:t>
            </a:r>
            <a:r>
              <a:rPr lang="en-GB" sz="3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or an aqueous solution.</a:t>
            </a:r>
            <a:endParaRPr sz="3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GB" sz="3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When a </a:t>
            </a:r>
            <a:r>
              <a:rPr lang="en-GB" sz="3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single metal is exposed</a:t>
            </a:r>
            <a:r>
              <a:rPr lang="en-GB" sz="3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to an </a:t>
            </a:r>
            <a:r>
              <a:rPr lang="en-GB" sz="3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electrolyte</a:t>
            </a:r>
            <a:r>
              <a:rPr lang="en-GB" sz="3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containing </a:t>
            </a:r>
            <a:r>
              <a:rPr lang="en-GB" sz="3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uneven concentrations </a:t>
            </a:r>
            <a:r>
              <a:rPr lang="en-GB" sz="3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of oxygen across surface</a:t>
            </a:r>
            <a:r>
              <a:rPr lang="en-GB" sz="3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3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GB" sz="3600" b="1" i="0" u="none" strike="noStrike" cap="none" spc="0">
                <a:solidFill>
                  <a:srgbClr val="92D050"/>
                </a:solidFill>
                <a:latin typeface="Times New Roman"/>
                <a:ea typeface="Times New Roman"/>
                <a:cs typeface="Times New Roman"/>
              </a:rPr>
              <a:t>MECHANISM</a:t>
            </a:r>
            <a:endParaRPr sz="3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GB" sz="3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Metal dissolution or </a:t>
            </a:r>
            <a:r>
              <a:rPr lang="en-GB" sz="3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corrosion always takes place at the anode</a:t>
            </a:r>
            <a:endParaRPr sz="3600" b="0" i="0" u="none" strike="noStrike" cap="none" spc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GB" sz="3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                                    </a:t>
            </a:r>
            <a:r>
              <a:rPr sz="3600" b="0" i="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M </a:t>
            </a:r>
            <a:r>
              <a:rPr sz="3600" b="0" i="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−−−−− </a:t>
            </a:r>
            <a:r>
              <a:rPr sz="3600" b="0" i="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M</a:t>
            </a:r>
            <a:r>
              <a:rPr sz="3600" b="0" i="0" u="none" baseline="30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3600" b="0" i="0" u="none" baseline="30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+ </a:t>
            </a:r>
            <a:r>
              <a:rPr sz="3600" b="0" i="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+ </a:t>
            </a:r>
            <a:r>
              <a:rPr sz="3600" b="0" i="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2e</a:t>
            </a:r>
            <a:r>
              <a:rPr sz="3600" b="0" i="0" u="none" baseline="30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−</a:t>
            </a:r>
            <a:endParaRPr sz="3600" b="0" i="0" u="none" baseline="30000">
              <a:solidFill>
                <a:schemeClr val="accent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GB" sz="3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The </a:t>
            </a:r>
            <a:r>
              <a:rPr lang="en-GB" sz="3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redaction reaction occurs at the cathode </a:t>
            </a:r>
            <a:r>
              <a:rPr lang="en-GB" sz="3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and varies based on the nature of the corrosive</a:t>
            </a:r>
            <a:r>
              <a:rPr lang="en-GB" sz="3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environment.</a:t>
            </a:r>
            <a:endParaRPr lang="en-GB" sz="36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GB" sz="3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Is an </a:t>
            </a:r>
            <a:r>
              <a:rPr lang="en-GB" sz="3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acidic environment</a:t>
            </a:r>
            <a:r>
              <a:rPr lang="en-GB" sz="3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hydrogen gas is released at the cathode</a:t>
            </a:r>
            <a:endParaRPr sz="3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sz="3600" b="0" i="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                                             2H</a:t>
            </a:r>
            <a:r>
              <a:rPr sz="3600" b="0" i="0" u="none" baseline="30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+ </a:t>
            </a:r>
            <a:r>
              <a:rPr sz="3600" b="0" i="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+ </a:t>
            </a:r>
            <a:r>
              <a:rPr sz="3600" b="0" i="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2e</a:t>
            </a:r>
            <a:r>
              <a:rPr sz="3600" b="0" i="0" u="none" baseline="30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− </a:t>
            </a:r>
            <a:r>
              <a:rPr sz="3600" b="0" i="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−−−−− </a:t>
            </a:r>
            <a:r>
              <a:rPr sz="3600" b="0" i="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H</a:t>
            </a:r>
            <a:r>
              <a:rPr sz="3600" b="0" i="0" u="none" baseline="-25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3600" b="0" i="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↑</a:t>
            </a:r>
            <a:endParaRPr sz="3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GB" sz="3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In a </a:t>
            </a:r>
            <a:r>
              <a:rPr lang="en-GB" sz="3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neutral or slightly alkaline</a:t>
            </a:r>
            <a:r>
              <a:rPr lang="en-GB" sz="3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environment, hydroxide ions are formed </a:t>
            </a:r>
            <a:endParaRPr lang="en-GB" sz="36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GB" sz="3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                                       </a:t>
            </a:r>
            <a:r>
              <a:rPr sz="3600" b="0" i="0" u="none" baseline="30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3600" b="0" i="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⁄</a:t>
            </a:r>
            <a:r>
              <a:rPr sz="3600" b="0" i="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2O</a:t>
            </a:r>
            <a:r>
              <a:rPr sz="3600" b="0" i="0" u="none" baseline="-25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2 </a:t>
            </a:r>
            <a:r>
              <a:rPr sz="3600" b="0" i="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+ </a:t>
            </a:r>
            <a:r>
              <a:rPr sz="3600" b="0" i="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2e</a:t>
            </a:r>
            <a:r>
              <a:rPr sz="3600" b="0" i="0" u="none" baseline="30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− </a:t>
            </a:r>
            <a:r>
              <a:rPr sz="3600" b="0" i="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+ </a:t>
            </a:r>
            <a:r>
              <a:rPr sz="3600" b="0" i="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H</a:t>
            </a:r>
            <a:r>
              <a:rPr sz="3600" b="0" i="0" u="none" baseline="-25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3600" b="0" i="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O </a:t>
            </a:r>
            <a:r>
              <a:rPr sz="3600" b="0" i="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−−−−− </a:t>
            </a:r>
            <a:r>
              <a:rPr sz="3600" b="0" i="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2OH</a:t>
            </a:r>
            <a:r>
              <a:rPr sz="3600" b="0" i="0" u="none" baseline="30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−</a:t>
            </a:r>
            <a:endParaRPr sz="3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73365046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447124" y="1970900"/>
            <a:ext cx="2906672" cy="35218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2710178" name="Title 1"/>
          <p:cNvSpPr>
            <a:spLocks noGrp="1"/>
          </p:cNvSpPr>
          <p:nvPr>
            <p:ph type="title"/>
          </p:nvPr>
        </p:nvSpPr>
        <p:spPr bwMode="auto">
          <a:xfrm>
            <a:off x="838198" y="365124"/>
            <a:ext cx="10515600" cy="682623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 algn="ctr">
              <a:defRPr/>
            </a:pPr>
            <a:r>
              <a:rPr lang="en-GB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Types of mechanism</a:t>
            </a:r>
            <a:endParaRPr sz="44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GB" sz="44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8779329" name="Content Placeholder 2"/>
          <p:cNvSpPr>
            <a:spLocks noGrp="1"/>
          </p:cNvSpPr>
          <p:nvPr>
            <p:ph idx="1"/>
          </p:nvPr>
        </p:nvSpPr>
        <p:spPr bwMode="auto">
          <a:xfrm>
            <a:off x="838198" y="1190624"/>
            <a:ext cx="10515600" cy="533399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/>
          <a:p>
            <a:pPr marL="0" indent="0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rgbClr val="92D050"/>
                </a:solidFill>
                <a:latin typeface="Times New Roman"/>
                <a:ea typeface="Times New Roman"/>
                <a:cs typeface="Times New Roman"/>
              </a:rPr>
              <a:t>Types of mechanism</a:t>
            </a: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(1) Hydrogen evoulation type corrosion</a:t>
            </a:r>
            <a:endParaRPr sz="2800" b="0" i="0" u="none" strike="noStrike" cap="none" spc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(ii) Absorption of oxygen or hydroxide ion type corrosion</a:t>
            </a:r>
            <a:endParaRPr sz="2800" b="0" i="0" u="none" strike="noStrike" cap="none" spc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endParaRPr sz="2800"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(1) Hydrogen evoulation type corrosion</a:t>
            </a:r>
            <a:endParaRPr sz="2800" b="0" i="0" u="none" strike="noStrike" cap="none" spc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All metals positioned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above hydrogen in the electrochemical series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tend to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dissolve in acidic solutions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releasing hydrogen gas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in the process</a:t>
            </a: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rgbClr val="92D050"/>
                </a:solidFill>
                <a:latin typeface="Times New Roman"/>
                <a:ea typeface="Times New Roman"/>
                <a:cs typeface="Times New Roman"/>
              </a:rPr>
              <a:t>At anode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: Iron dissolves by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forming Fe</a:t>
            </a:r>
            <a:r>
              <a:rPr lang="en-GB" sz="2800" b="0" i="0" u="none" strike="noStrike" cap="none" spc="0" baseline="30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2+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 ions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while releasing electrons</a:t>
            </a: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 algn="ctr">
              <a:buFont typeface="Arial"/>
              <a:buNone/>
              <a:defRPr/>
            </a:pPr>
            <a:r>
              <a:rPr sz="2800" b="0" i="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Fe </a:t>
            </a:r>
            <a:r>
              <a:rPr sz="2800" b="0" i="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−−−−− </a:t>
            </a:r>
            <a:r>
              <a:rPr sz="2800" b="0" i="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Fe</a:t>
            </a:r>
            <a:r>
              <a:rPr sz="2800" b="0" i="0" u="none" baseline="30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2800" b="0" i="0" u="none" baseline="30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+ </a:t>
            </a:r>
            <a:r>
              <a:rPr sz="2800" b="0" i="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+ </a:t>
            </a:r>
            <a:r>
              <a:rPr sz="2800" b="0" i="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2e</a:t>
            </a:r>
            <a:r>
              <a:rPr sz="2800" b="0" i="0" u="none" baseline="30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− </a:t>
            </a:r>
            <a:r>
              <a:rPr sz="2800" b="0" i="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(oxidation)</a:t>
            </a:r>
            <a:endParaRPr sz="2800" b="0" i="0" u="none">
              <a:solidFill>
                <a:schemeClr val="accent1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rgbClr val="92D050"/>
                </a:solidFill>
                <a:latin typeface="Times New Roman"/>
                <a:ea typeface="Times New Roman"/>
                <a:cs typeface="Times New Roman"/>
              </a:rPr>
              <a:t>At cathode: </a:t>
            </a:r>
            <a:r>
              <a:rPr lang="en-GB" sz="2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These electrons flow from the anode to the cathode, where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H ions are reduced,</a:t>
            </a:r>
            <a:r>
              <a:rPr lang="en-GB" sz="2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resulting in the evolution of hydrogen gas.</a:t>
            </a:r>
            <a:endParaRPr sz="2800" b="0" i="0" u="none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 algn="ctr">
              <a:buFont typeface="Arial"/>
              <a:buNone/>
              <a:defRPr/>
            </a:pPr>
            <a:r>
              <a:rPr sz="2800" b="0" i="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2H</a:t>
            </a:r>
            <a:r>
              <a:rPr sz="2800" b="0" i="0" u="none" baseline="30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+ </a:t>
            </a:r>
            <a:r>
              <a:rPr sz="2800" b="0" i="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+ </a:t>
            </a:r>
            <a:r>
              <a:rPr sz="2800" b="0" i="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2e</a:t>
            </a:r>
            <a:r>
              <a:rPr sz="2800" b="0" i="0" u="none" baseline="30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− </a:t>
            </a:r>
            <a:r>
              <a:rPr sz="2800" b="0" i="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−−−−− </a:t>
            </a:r>
            <a:r>
              <a:rPr sz="2800" b="0" i="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H</a:t>
            </a:r>
            <a:r>
              <a:rPr sz="2800" b="0" i="0" u="none" baseline="-25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2800" b="0" i="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↑ </a:t>
            </a:r>
            <a:r>
              <a:rPr sz="2800" b="0" i="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(reduction</a:t>
            </a: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</a:t>
            </a:r>
            <a:b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0950569" name="Content Placeholder 2"/>
          <p:cNvSpPr>
            <a:spLocks noGrp="1"/>
          </p:cNvSpPr>
          <p:nvPr>
            <p:ph idx="1"/>
          </p:nvPr>
        </p:nvSpPr>
        <p:spPr bwMode="auto">
          <a:xfrm>
            <a:off x="838198" y="507999"/>
            <a:ext cx="10515600" cy="566896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0000" lnSpcReduction="6000"/>
          </a:bodyPr>
          <a:lstStyle/>
          <a:p>
            <a:pPr marL="0" indent="0">
              <a:buFont typeface="Arial"/>
              <a:buNone/>
              <a:defRPr/>
            </a:pP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800" b="1" i="0" u="none" strike="noStrike" cap="none" spc="0">
                <a:solidFill>
                  <a:srgbClr val="92D050"/>
                </a:solidFill>
                <a:latin typeface="Times New Roman"/>
                <a:ea typeface="Times New Roman"/>
                <a:cs typeface="Times New Roman"/>
              </a:rPr>
              <a:t>(ii) Absorption of oxygen or hydroxide ion type corrosion</a:t>
            </a:r>
            <a:endParaRPr lang="en-GB" sz="2800" b="1" i="0" u="none" strike="noStrike" cap="none" spc="0">
              <a:solidFill>
                <a:srgbClr val="92D05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In this form of corrosion, the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cathodic reaction produces hydroxide ions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(OH") as a result of the reduction of dissolved oxygen in the presence of water.</a:t>
            </a:r>
            <a:endParaRPr sz="2800"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800" b="1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At anode</a:t>
            </a:r>
            <a:r>
              <a:rPr lang="en-GB" sz="2800" b="1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: Iron dissolves by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forming Fe2+ ions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 while releasing  electrons</a:t>
            </a: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 algn="ctr">
              <a:buFont typeface="Arial"/>
              <a:buNone/>
              <a:defRPr/>
            </a:pPr>
            <a:r>
              <a:rPr sz="2800" b="0" i="0" u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Fe </a:t>
            </a:r>
            <a:r>
              <a:rPr sz="2800" b="0" i="0" u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−−−−− </a:t>
            </a:r>
            <a:r>
              <a:rPr sz="2800" b="0" i="0" u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Fe </a:t>
            </a:r>
            <a:r>
              <a:rPr sz="2800" b="0" i="0" u="none" baseline="300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+ </a:t>
            </a:r>
            <a:r>
              <a:rPr sz="2800" b="0" i="0" u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+ </a:t>
            </a:r>
            <a:r>
              <a:rPr sz="2800" b="0" i="0" u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2e</a:t>
            </a:r>
            <a:r>
              <a:rPr sz="2800" b="0" i="0" u="none" baseline="300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− </a:t>
            </a:r>
            <a:r>
              <a:rPr sz="2800" b="0" i="0" u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(oxidation)</a:t>
            </a: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800" b="1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At cathode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:The released electrons travel from the anode to the cathode through the metal, where they are absorbed by dissolved oxygen, resulting in the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formation of Hydroxide ion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</a:t>
            </a: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 algn="ctr">
              <a:buFont typeface="Arial"/>
              <a:buNone/>
              <a:defRPr/>
            </a:pPr>
            <a:r>
              <a:rPr sz="2800" b="0" i="0" u="none" baseline="300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2800" b="0" i="0" u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⁄</a:t>
            </a:r>
            <a:r>
              <a:rPr sz="2800" b="0" i="0" u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2O</a:t>
            </a:r>
            <a:r>
              <a:rPr sz="2800" b="0" i="0" u="none" baseline="-250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2 </a:t>
            </a:r>
            <a:r>
              <a:rPr sz="2800" b="0" i="0" u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+ </a:t>
            </a:r>
            <a:r>
              <a:rPr sz="2800" b="0" i="0" u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H</a:t>
            </a:r>
            <a:r>
              <a:rPr sz="2800" b="0" i="0" u="none" baseline="-250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2800" b="0" i="0" u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O </a:t>
            </a:r>
            <a:r>
              <a:rPr sz="2800" b="0" i="0" u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+ </a:t>
            </a:r>
            <a:r>
              <a:rPr sz="2800" b="0" i="0" u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2e</a:t>
            </a:r>
            <a:r>
              <a:rPr sz="2800" b="0" i="0" u="none" baseline="300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− </a:t>
            </a:r>
            <a:r>
              <a:rPr sz="2800" b="0" i="0" u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−−−−− </a:t>
            </a:r>
            <a:r>
              <a:rPr sz="2800" b="0" i="0" u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2OH</a:t>
            </a:r>
            <a:r>
              <a:rPr sz="2800" b="0" i="0" u="none" baseline="300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−</a:t>
            </a:r>
            <a:br>
              <a:rPr sz="2800" b="0" i="0" u="none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The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Fe</a:t>
            </a:r>
            <a:r>
              <a:rPr lang="en-GB" sz="2800" b="0" i="0" u="none" strike="noStrike" cap="none" spc="0" baseline="30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2+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 and OH</a:t>
            </a:r>
            <a:r>
              <a:rPr lang="en-GB" sz="2800" b="0" i="0" u="none" strike="noStrike" cap="none" spc="0" baseline="30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 ions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combine to form ferrous hydroxide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as a precipitate Fe2018-FeO</a:t>
            </a: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 algn="ctr">
              <a:buFont typeface="Arial"/>
              <a:buNone/>
              <a:defRPr/>
            </a:pPr>
            <a:r>
              <a:rPr sz="2800" b="0" i="0" u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Fe</a:t>
            </a:r>
            <a:r>
              <a:rPr sz="2800" b="0" i="0" u="none" baseline="300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2800" b="0" i="0" u="none" baseline="300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+ </a:t>
            </a:r>
            <a:r>
              <a:rPr sz="2800" b="0" i="0" u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+ </a:t>
            </a:r>
            <a:r>
              <a:rPr sz="2800" b="0" i="0" u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2OH</a:t>
            </a:r>
            <a:r>
              <a:rPr sz="2800" b="0" i="0" u="none" baseline="300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− </a:t>
            </a:r>
            <a:r>
              <a:rPr sz="2800" b="0" i="0" u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−−−−− </a:t>
            </a:r>
            <a:r>
              <a:rPr sz="2800" b="0" i="0" u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Fe</a:t>
            </a:r>
            <a:r>
              <a:rPr sz="2800" b="0" i="0" u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2800" b="0" i="0" u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OH</a:t>
            </a:r>
            <a:r>
              <a:rPr sz="2800" b="0" i="0" u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)</a:t>
            </a:r>
            <a:r>
              <a:rPr sz="2800" b="0" i="0" u="none" baseline="-250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2800" b="0" i="0" u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↓</a:t>
            </a:r>
            <a:b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 algn="ctr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In the presence of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sufficient oxygen,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this f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errous hydroxide to readily oxidised to ferric Hydroxide</a:t>
            </a: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 algn="ctr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800" b="0" i="0" u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4Fe</a:t>
            </a:r>
            <a:r>
              <a:rPr sz="2800" b="0" i="0" u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2800" b="0" i="0" u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OH</a:t>
            </a:r>
            <a:r>
              <a:rPr sz="2800" b="0" i="0" u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)</a:t>
            </a:r>
            <a:r>
              <a:rPr sz="2800" b="0" i="0" u="none" baseline="-250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2 </a:t>
            </a:r>
            <a:r>
              <a:rPr sz="2800" b="0" i="0" u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+ </a:t>
            </a:r>
            <a:r>
              <a:rPr sz="2800" b="0" i="0" u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O</a:t>
            </a:r>
            <a:r>
              <a:rPr sz="2800" b="0" i="0" u="none" baseline="-250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2 </a:t>
            </a:r>
            <a:r>
              <a:rPr sz="2800" b="0" i="0" u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+ </a:t>
            </a:r>
            <a:r>
              <a:rPr sz="2800" b="0" i="0" u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2H</a:t>
            </a:r>
            <a:r>
              <a:rPr sz="2800" b="0" i="0" u="none" baseline="-250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2800" b="0" i="0" u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O </a:t>
            </a:r>
            <a:r>
              <a:rPr sz="2800" b="0" i="0" u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−−−−− </a:t>
            </a:r>
            <a:r>
              <a:rPr sz="2800" b="0" i="0" u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4Fe</a:t>
            </a:r>
            <a:r>
              <a:rPr sz="2800" b="0" i="0" u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2800" b="0" i="0" u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OH</a:t>
            </a:r>
            <a:r>
              <a:rPr sz="2800" b="0" i="0" u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)</a:t>
            </a:r>
            <a:r>
              <a:rPr sz="2800" b="0" i="0" u="none" baseline="-250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3</a:t>
            </a:r>
            <a:br>
              <a:rPr sz="2800" b="0" i="0" u="none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6913759" name="Title 1"/>
          <p:cNvSpPr>
            <a:spLocks noGrp="1"/>
          </p:cNvSpPr>
          <p:nvPr>
            <p:ph type="title"/>
          </p:nvPr>
        </p:nvSpPr>
        <p:spPr bwMode="auto">
          <a:xfrm>
            <a:off x="838198" y="365124"/>
            <a:ext cx="10515600" cy="57150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Types of electrochemical corrosion</a:t>
            </a:r>
            <a:endParaRPr lang="en-GB" sz="44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08822722" name="Content Placeholder 2"/>
          <p:cNvSpPr>
            <a:spLocks noGrp="1"/>
          </p:cNvSpPr>
          <p:nvPr>
            <p:ph idx="1"/>
          </p:nvPr>
        </p:nvSpPr>
        <p:spPr bwMode="auto">
          <a:xfrm>
            <a:off x="838198" y="984249"/>
            <a:ext cx="10515600" cy="519271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Electrochemical corrosion can be categorized into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two types</a:t>
            </a: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"/>
              <a:buChar char="Ø"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Galvanic corrosion</a:t>
            </a: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"/>
              <a:buChar char="Ø"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Differential aeration or concentration cell corrosion</a:t>
            </a: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rgbClr val="92D050"/>
                </a:solidFill>
                <a:latin typeface="Times New Roman"/>
                <a:ea typeface="Times New Roman"/>
                <a:cs typeface="Times New Roman"/>
              </a:rPr>
              <a:t>(1)Galvanic corrosion:</a:t>
            </a: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"/>
              <a:buChar char="v"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Galvanic corrosion, also called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bimetallic corrosion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takes place when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two dissimilar metals are in electrical contact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and exposed to an electrolyte like water, moisture, or soil .</a:t>
            </a:r>
            <a:endParaRPr lang="en-GB" sz="28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buFont typeface="Wingdings"/>
              <a:buChar char="v"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In this setup,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 one metal act as the anode and corrodes more rapidly,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while the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other serves as the cathode and remains protected</a:t>
            </a:r>
            <a:endParaRPr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1191156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7" y="428625"/>
            <a:ext cx="7132676" cy="600075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 marL="0" indent="0" algn="just">
              <a:buFont typeface="Arial"/>
              <a:buNone/>
              <a:defRPr/>
            </a:pPr>
            <a:r>
              <a:rPr lang="en-GB" sz="2800" b="1" i="0" u="none" strike="noStrike" cap="none" spc="0">
                <a:solidFill>
                  <a:srgbClr val="92D050"/>
                </a:solidFill>
                <a:latin typeface="Times New Roman"/>
                <a:ea typeface="Times New Roman"/>
                <a:cs typeface="Times New Roman"/>
              </a:rPr>
              <a:t>Zn-Cu bimetallic couple</a:t>
            </a: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zinc is more reactive 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and preferentially dissolves instead of copper. </a:t>
            </a:r>
            <a:endParaRPr lang="en-GB" sz="28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As a result,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zinc functions as the anode 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and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undergoes corrosion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while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copper serves as the cathode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. </a:t>
            </a:r>
            <a:endParaRPr lang="en-GB" sz="28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GB" sz="2800" b="1" i="0" u="none" strike="noStrike" cap="none" spc="0">
                <a:solidFill>
                  <a:srgbClr val="92D050"/>
                </a:solidFill>
                <a:latin typeface="Times New Roman"/>
                <a:ea typeface="Times New Roman"/>
                <a:cs typeface="Times New Roman"/>
              </a:rPr>
              <a:t>Fe-Cu bimetallic couple</a:t>
            </a:r>
            <a:endParaRPr lang="en-GB" sz="2800" b="1" i="0" u="none" strike="noStrike" cap="none" spc="0">
              <a:solidFill>
                <a:srgbClr val="92D050"/>
              </a:solidFill>
              <a:latin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Similarly in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Fe-Cu bimetallic couple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iron 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being the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more active meta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l dissolves in preference to copper. In this case,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iron acts as anode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and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undergoes corrosion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and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copper acts as cathode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. </a:t>
            </a:r>
            <a:endParaRPr lang="en-GB" sz="28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Example.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Steel screw in a brass</a:t>
            </a:r>
            <a:r>
              <a:rPr>
                <a:solidFill>
                  <a:srgbClr val="FF0000"/>
                </a:solidFill>
              </a:rPr>
              <a:t>.</a:t>
            </a:r>
            <a:endParaRPr>
              <a:solidFill>
                <a:srgbClr val="FF0000"/>
              </a:solidFill>
            </a:endParaRPr>
          </a:p>
          <a:p>
            <a:pPr marL="0" indent="0" algn="just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Marine hardwere corrodes due to this type of corrosion Iron becomes anodic (higher position in EMF acts a cathode and is not corroded. </a:t>
            </a:r>
            <a:endParaRPr lang="en-GB" sz="28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73941978" name=""/>
          <p:cNvPicPr>
            <a:picLocks noChangeAspect="1"/>
          </p:cNvPicPr>
          <p:nvPr/>
        </p:nvPicPr>
        <p:blipFill rotWithShape="1">
          <a:blip r:embed="rId3"/>
          <a:srcRect l="0" t="5298" r="0" b="-5298"/>
          <a:stretch/>
        </p:blipFill>
        <p:spPr bwMode="auto">
          <a:xfrm flipH="0" flipV="0">
            <a:off x="9072599" y="1952624"/>
            <a:ext cx="2676524" cy="33496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923212" name="Title 1"/>
          <p:cNvSpPr>
            <a:spLocks noGrp="1"/>
          </p:cNvSpPr>
          <p:nvPr>
            <p:ph type="title"/>
          </p:nvPr>
        </p:nvSpPr>
        <p:spPr bwMode="auto">
          <a:xfrm>
            <a:off x="838198" y="365124"/>
            <a:ext cx="10515600" cy="714375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GB" sz="3600" b="0" i="0" u="none" strike="noStrike" cap="none" spc="0">
                <a:solidFill>
                  <a:srgbClr val="92D050"/>
                </a:solidFill>
                <a:latin typeface="Times New Roman"/>
                <a:ea typeface="Times New Roman"/>
                <a:cs typeface="Times New Roman"/>
              </a:rPr>
              <a:t>Differential aeration or concentration cell corrosion</a:t>
            </a:r>
            <a:endParaRPr sz="3600">
              <a:solidFill>
                <a:srgbClr val="92D050"/>
              </a:solidFill>
              <a:latin typeface="Times New Roman"/>
              <a:cs typeface="Times New Roman"/>
            </a:endParaRPr>
          </a:p>
        </p:txBody>
      </p:sp>
      <p:sp>
        <p:nvSpPr>
          <p:cNvPr id="1506625185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7" y="1190623"/>
            <a:ext cx="7354926" cy="498633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 marL="0" indent="0" algn="just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Differential aeration corrosion is a form of electrochemical corrosion that arises when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different area of the same metal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surface are subjected to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unequal oxygen concentrations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. The area with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lower Oxygen concentration acts as the anode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and undergoes Corrosion, while the a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rea with higher oxygen concentration becomes the cathode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and remains protected</a:t>
            </a:r>
            <a:r>
              <a:rPr sz="2800">
                <a:latin typeface="Times New Roman"/>
                <a:ea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At Anode: Less aerated and corrosion occurs</a:t>
            </a:r>
            <a:endParaRPr sz="280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0" indent="0" algn="ctr">
              <a:buFont typeface="Arial"/>
              <a:buNone/>
              <a:defRPr/>
            </a:pPr>
            <a:r>
              <a:rPr sz="2800" b="0" i="0" u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M </a:t>
            </a:r>
            <a:r>
              <a:rPr sz="2800" b="0" i="0" u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−−−−− </a:t>
            </a:r>
            <a:r>
              <a:rPr sz="2800" b="0" i="0" u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M</a:t>
            </a:r>
            <a:r>
              <a:rPr sz="2800" b="0" i="0" u="none" baseline="300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2800" b="0" i="0" u="none" baseline="300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+ </a:t>
            </a:r>
            <a:r>
              <a:rPr sz="2800" b="0" i="0" u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+ </a:t>
            </a:r>
            <a:r>
              <a:rPr sz="2800" b="0" i="0" u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2e</a:t>
            </a:r>
            <a:r>
              <a:rPr sz="2800" b="0" i="0" u="none" baseline="300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−</a:t>
            </a:r>
            <a:endParaRPr sz="2800">
              <a:solidFill>
                <a:srgbClr val="00B0F0"/>
              </a:solidFill>
              <a:latin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At cathode: More aerated and OH ions are produced.</a:t>
            </a:r>
            <a:endParaRPr sz="280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0" indent="0" algn="ctr">
              <a:buFont typeface="Arial"/>
              <a:buNone/>
              <a:defRPr/>
            </a:pPr>
            <a:r>
              <a:rPr sz="2800" b="0" i="0" u="none" baseline="300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2800" b="0" i="0" u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⁄</a:t>
            </a:r>
            <a:r>
              <a:rPr sz="2800" b="0" i="0" u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2O</a:t>
            </a:r>
            <a:r>
              <a:rPr sz="2800" b="0" i="0" u="none" baseline="-250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2 </a:t>
            </a:r>
            <a:r>
              <a:rPr sz="2800" b="0" i="0" u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+ </a:t>
            </a:r>
            <a:r>
              <a:rPr sz="2800" b="0" i="0" u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H</a:t>
            </a:r>
            <a:r>
              <a:rPr sz="2800" b="0" i="0" u="none" baseline="-250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2800" b="0" i="0" u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O</a:t>
            </a:r>
            <a:r>
              <a:rPr sz="2800" b="0" i="0" u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+ </a:t>
            </a:r>
            <a:r>
              <a:rPr sz="2800" b="0" i="0" u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2e</a:t>
            </a:r>
            <a:r>
              <a:rPr sz="2800" b="0" i="0" u="none" baseline="300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− </a:t>
            </a:r>
            <a:r>
              <a:rPr sz="2800" b="0" i="0" u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−−−−− </a:t>
            </a:r>
            <a:r>
              <a:rPr sz="2800" b="0" i="0" u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2OH</a:t>
            </a:r>
            <a:r>
              <a:rPr sz="2800" b="0" i="0" u="none" baseline="300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−</a:t>
            </a:r>
            <a:br>
              <a:rPr sz="2800" b="0" i="0" u="none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endParaRPr sz="2800">
              <a:latin typeface="Times New Roman"/>
              <a:cs typeface="Times New Roman"/>
            </a:endParaRPr>
          </a:p>
        </p:txBody>
      </p:sp>
      <p:pic>
        <p:nvPicPr>
          <p:cNvPr id="30874852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129624" y="1661318"/>
            <a:ext cx="3105112" cy="3535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861624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lang="en-GB" sz="44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Examples</a:t>
            </a:r>
            <a:r>
              <a:rPr lang="en-GB" sz="4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GB" sz="44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for</a:t>
            </a:r>
            <a:r>
              <a:rPr lang="en-GB" sz="4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GB" sz="44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Differential</a:t>
            </a:r>
            <a:r>
              <a:rPr lang="en-GB" sz="4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GB" sz="44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aeration</a:t>
            </a:r>
            <a:r>
              <a:rPr lang="en-GB" sz="4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GB" sz="44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corrosion</a:t>
            </a:r>
            <a:r>
              <a:rPr lang="en-GB" sz="4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4400"/>
          </a:p>
          <a:p>
            <a:pPr>
              <a:defRPr/>
            </a:pPr>
            <a:endParaRPr lang="en-GB" sz="4400" b="0" i="0" u="none" strike="noStrike" cap="none" spc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26830584" name="Content Placeholder 2"/>
          <p:cNvSpPr>
            <a:spLocks noGrp="1"/>
          </p:cNvSpPr>
          <p:nvPr>
            <p:ph idx="1"/>
          </p:nvPr>
        </p:nvSpPr>
        <p:spPr bwMode="auto">
          <a:xfrm>
            <a:off x="838198" y="1254124"/>
            <a:ext cx="10515600" cy="49228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 marL="0" indent="0">
              <a:buFont typeface="Arial"/>
              <a:buNone/>
              <a:defRPr/>
            </a:pPr>
            <a:r>
              <a:rPr sz="2000" b="0" i="0" u="none">
                <a:solidFill>
                  <a:srgbClr val="92D050"/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2000" b="1" i="0" u="none">
                <a:solidFill>
                  <a:srgbClr val="92D050"/>
                </a:solidFill>
                <a:latin typeface="Times New Roman"/>
                <a:ea typeface="Times New Roman"/>
                <a:cs typeface="Times New Roman"/>
              </a:rPr>
              <a:t>a)</a:t>
            </a:r>
            <a:r>
              <a:rPr sz="2000" b="1" i="0" u="none">
                <a:solidFill>
                  <a:srgbClr val="92D050"/>
                </a:solidFill>
                <a:latin typeface="Times New Roman"/>
                <a:ea typeface="Times New Roman"/>
                <a:cs typeface="Times New Roman"/>
              </a:rPr>
              <a:t>Pitting or localised corrosion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lang="en-GB" sz="20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0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Pitting corrosion is an electrochemical corrosion that results in the </a:t>
            </a:r>
            <a:r>
              <a:rPr lang="en-GB" sz="20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development of small, deep cavities or pits </a:t>
            </a:r>
            <a:r>
              <a:rPr lang="en-GB" sz="20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on a metal surface Corrosion occurs more rapidly when the </a:t>
            </a:r>
            <a:r>
              <a:rPr lang="en-GB" sz="20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cathodic area is large</a:t>
            </a:r>
            <a:r>
              <a:rPr lang="en-GB" sz="20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and the </a:t>
            </a:r>
            <a:r>
              <a:rPr lang="en-GB" sz="20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anodic area is small </a:t>
            </a:r>
            <a:endParaRPr sz="200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2000" b="1" i="0" u="none">
                <a:solidFill>
                  <a:srgbClr val="92D050"/>
                </a:solidFill>
                <a:latin typeface="Times New Roman"/>
                <a:ea typeface="Times New Roman"/>
                <a:cs typeface="Times New Roman"/>
              </a:rPr>
              <a:t>(b) Crevice corrosion</a:t>
            </a:r>
            <a:endParaRPr sz="2000" b="1" i="0" u="none">
              <a:solidFill>
                <a:srgbClr val="92D05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0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Crevice corrosion is a type of localized electrochemical corrosion that takes place in tight, </a:t>
            </a:r>
            <a:r>
              <a:rPr lang="en-GB" sz="20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confined faces where oxygen or fluid access is limited</a:t>
            </a:r>
            <a:r>
              <a:rPr lang="en-GB" sz="20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. The </a:t>
            </a:r>
            <a:r>
              <a:rPr lang="en-GB" sz="20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interior of the crevice</a:t>
            </a:r>
            <a:r>
              <a:rPr lang="en-GB" sz="20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lacking oxygen. act as the </a:t>
            </a:r>
            <a:r>
              <a:rPr lang="en-GB" sz="20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anod</a:t>
            </a:r>
            <a:r>
              <a:rPr lang="en-GB" sz="20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e and </a:t>
            </a:r>
            <a:r>
              <a:rPr lang="en-GB" sz="20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undergoes corrosion</a:t>
            </a:r>
            <a:r>
              <a:rPr lang="en-GB" sz="20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while the outer surface with abundant </a:t>
            </a:r>
            <a:r>
              <a:rPr lang="en-GB" sz="20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Oxygen serves as the</a:t>
            </a:r>
            <a:r>
              <a:rPr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 cathode</a:t>
            </a:r>
            <a:endParaRPr sz="200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2000" b="1" i="0" u="none">
                <a:solidFill>
                  <a:srgbClr val="92D050"/>
                </a:solidFill>
                <a:latin typeface="Times New Roman"/>
                <a:ea typeface="Times New Roman"/>
                <a:cs typeface="Times New Roman"/>
              </a:rPr>
              <a:t>c) Pipeline corrosion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lang="en-GB" sz="20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0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GB" sz="20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Buried pipelines or cables</a:t>
            </a:r>
            <a:r>
              <a:rPr lang="en-GB" sz="20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that pass through different soil types such as from </a:t>
            </a:r>
            <a:r>
              <a:rPr lang="en-GB" sz="20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less-aerated clay ,to more aerated sandy soil</a:t>
            </a:r>
            <a:r>
              <a:rPr lang="en-GB" sz="20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can experience corrosion as a result of differential aeration</a:t>
            </a:r>
            <a:endParaRPr sz="20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2000" b="1" i="0" u="none">
                <a:solidFill>
                  <a:srgbClr val="92D050"/>
                </a:solidFill>
                <a:latin typeface="Times New Roman"/>
                <a:ea typeface="Times New Roman"/>
                <a:cs typeface="Times New Roman"/>
              </a:rPr>
              <a:t>(d) Corrosion on wire fence</a:t>
            </a:r>
            <a:endParaRPr lang="en-GB" sz="2000" b="0" i="0" u="none" strike="noStrike" cap="none" spc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0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In a wire fence</a:t>
            </a:r>
            <a:r>
              <a:rPr lang="en-GB" sz="20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the points where the wires intersect receive </a:t>
            </a:r>
            <a:r>
              <a:rPr lang="en-GB" sz="20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less exposure to air</a:t>
            </a:r>
            <a:r>
              <a:rPr lang="en-GB" sz="20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compared to the rest of the structure. As a result, there</a:t>
            </a:r>
            <a:r>
              <a:rPr lang="en-GB" sz="20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 low-aeration area become more</a:t>
            </a:r>
            <a:r>
              <a:rPr lang="en-GB" sz="20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susceptible to </a:t>
            </a:r>
            <a:r>
              <a:rPr lang="en-GB" sz="20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corrosion</a:t>
            </a:r>
            <a:r>
              <a:rPr lang="en-GB" sz="20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making wire makings common sites for deterioration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2841693" name="Titl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815975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en-GB" sz="3600" b="1" i="0" u="none" strike="noStrike" cap="none" spc="0">
                <a:solidFill>
                  <a:srgbClr val="92D050"/>
                </a:solidFill>
                <a:latin typeface="Times New Roman"/>
                <a:ea typeface="Times New Roman"/>
                <a:cs typeface="Times New Roman"/>
              </a:rPr>
              <a:t>Factors Influencing the Rate of Corrosion</a:t>
            </a:r>
            <a:endParaRPr sz="3600" b="1">
              <a:solidFill>
                <a:srgbClr val="92D050"/>
              </a:solidFill>
              <a:latin typeface="Times New Roman"/>
              <a:cs typeface="Times New Roman"/>
            </a:endParaRPr>
          </a:p>
        </p:txBody>
      </p:sp>
      <p:sp>
        <p:nvSpPr>
          <p:cNvPr id="1690185176" name="Content Placeholder 2"/>
          <p:cNvSpPr>
            <a:spLocks noGrp="1"/>
          </p:cNvSpPr>
          <p:nvPr>
            <p:ph idx="1"/>
          </p:nvPr>
        </p:nvSpPr>
        <p:spPr bwMode="auto">
          <a:xfrm>
            <a:off x="838200" y="1181099"/>
            <a:ext cx="10515600" cy="5244465"/>
          </a:xfrm>
        </p:spPr>
        <p:txBody>
          <a:bodyPr>
            <a:noAutofit/>
          </a:bodyPr>
          <a:lstStyle/>
          <a:p>
            <a:pPr>
              <a:buFont typeface="Wingdings"/>
              <a:buChar char="Ø"/>
              <a:defRPr/>
            </a:pPr>
            <a:r>
              <a:rPr lang="en-GB" sz="3100" b="1" i="0" u="none" strike="noStrike" cap="none" spc="0">
                <a:solidFill>
                  <a:srgbClr val="92D050"/>
                </a:solidFill>
                <a:latin typeface="Times New Roman"/>
                <a:ea typeface="Arial"/>
                <a:cs typeface="Times New Roman"/>
              </a:rPr>
              <a:t>Nature of the metal</a:t>
            </a:r>
            <a:endParaRPr lang="en-GB" sz="3100" b="1" i="0" u="none" strike="noStrike" cap="none" spc="0">
              <a:solidFill>
                <a:srgbClr val="92D050"/>
              </a:solidFill>
              <a:latin typeface="Times New Roman"/>
              <a:ea typeface="Arial"/>
              <a:cs typeface="Times New Roman"/>
            </a:endParaRPr>
          </a:p>
          <a:p>
            <a:pPr marL="0" indent="0">
              <a:buNone/>
              <a:defRPr/>
            </a:pPr>
            <a:r>
              <a:rPr lang="en-US" sz="3100" b="1">
                <a:solidFill>
                  <a:schemeClr val="tx1"/>
                </a:solidFill>
                <a:latin typeface="Times New Roman"/>
                <a:cs typeface="Times New Roman"/>
              </a:rPr>
              <a:t>(i) Purity of the metal</a:t>
            </a:r>
            <a:endParaRPr lang="en-US" sz="3100" b="1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None/>
              <a:defRPr/>
            </a:pPr>
            <a:r>
              <a:rPr lang="en-US" sz="3100" b="1">
                <a:solidFill>
                  <a:schemeClr val="tx1"/>
                </a:solidFill>
                <a:latin typeface="Times New Roman"/>
                <a:cs typeface="Times New Roman"/>
              </a:rPr>
              <a:t>(ii) Relative area of electrodes</a:t>
            </a:r>
            <a:endParaRPr lang="en-US" sz="3100" b="1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None/>
              <a:defRPr/>
            </a:pPr>
            <a:r>
              <a:rPr lang="en-US" sz="3100" b="1">
                <a:solidFill>
                  <a:schemeClr val="tx1"/>
                </a:solidFill>
                <a:latin typeface="Times New Roman"/>
                <a:cs typeface="Times New Roman"/>
              </a:rPr>
              <a:t>(iii) Position in galvanic series</a:t>
            </a:r>
            <a:endParaRPr lang="en-US" sz="3100" b="1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None/>
              <a:defRPr/>
            </a:pPr>
            <a:r>
              <a:rPr lang="en-US" sz="3100" b="1">
                <a:solidFill>
                  <a:schemeClr val="tx1"/>
                </a:solidFill>
                <a:latin typeface="Times New Roman"/>
                <a:cs typeface="Times New Roman"/>
              </a:rPr>
              <a:t>(iv) Over voltage</a:t>
            </a:r>
            <a:endParaRPr lang="en-US" sz="3100" b="1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None/>
              <a:defRPr/>
            </a:pPr>
            <a:r>
              <a:rPr lang="en-US" sz="3100" b="1">
                <a:solidFill>
                  <a:schemeClr val="tx1"/>
                </a:solidFill>
                <a:latin typeface="Times New Roman"/>
                <a:cs typeface="Times New Roman"/>
              </a:rPr>
              <a:t>(v) Nature of the surface film</a:t>
            </a:r>
            <a:endParaRPr lang="en-US" sz="3100" b="1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None/>
              <a:defRPr/>
            </a:pPr>
            <a:r>
              <a:rPr lang="en-US" sz="3100" b="1">
                <a:solidFill>
                  <a:schemeClr val="tx1"/>
                </a:solidFill>
                <a:latin typeface="Times New Roman"/>
                <a:cs typeface="Times New Roman"/>
              </a:rPr>
              <a:t>vi) Nature of corrosion product</a:t>
            </a:r>
            <a:endParaRPr lang="en-GB" sz="3100" b="1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"/>
              <a:buChar char="Ø"/>
              <a:defRPr/>
            </a:pPr>
            <a:r>
              <a:rPr lang="en-GB" sz="3100" b="1" i="0" u="none" strike="noStrike" cap="none" spc="0">
                <a:solidFill>
                  <a:srgbClr val="92D050"/>
                </a:solidFill>
                <a:latin typeface="Times New Roman"/>
                <a:ea typeface="Arial"/>
                <a:cs typeface="Times New Roman"/>
              </a:rPr>
              <a:t>Nature of the environment</a:t>
            </a:r>
            <a:endParaRPr lang="en-GB" sz="3100" b="1" i="0" u="none" strike="noStrike" cap="none" spc="0">
              <a:solidFill>
                <a:srgbClr val="92D050"/>
              </a:solidFill>
              <a:latin typeface="Times New Roman"/>
              <a:ea typeface="Arial"/>
              <a:cs typeface="Times New Roman"/>
            </a:endParaRPr>
          </a:p>
          <a:p>
            <a:pPr marL="0" indent="0">
              <a:buNone/>
              <a:defRPr/>
            </a:pPr>
            <a:r>
              <a:rPr lang="en-US" sz="3100" b="1">
                <a:latin typeface="Times New Roman"/>
                <a:cs typeface="Times New Roman"/>
              </a:rPr>
              <a:t>i)Temperature    ii)Humidity   iii)pH</a:t>
            </a:r>
            <a:endParaRPr lang="en-US" sz="2100" b="1" i="0" u="none" strike="noStrike" cap="none" spc="0">
              <a:solidFill>
                <a:schemeClr val="tx1"/>
              </a:solidFill>
              <a:latin typeface="Times New Roman"/>
              <a:ea typeface="Arial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3505693" name="Content Placeholder 2"/>
          <p:cNvSpPr>
            <a:spLocks noGrp="1"/>
          </p:cNvSpPr>
          <p:nvPr>
            <p:ph idx="1"/>
          </p:nvPr>
        </p:nvSpPr>
        <p:spPr bwMode="auto">
          <a:xfrm>
            <a:off x="838200" y="448310"/>
            <a:ext cx="10515600" cy="5875020"/>
          </a:xfrm>
        </p:spPr>
        <p:txBody>
          <a:bodyPr>
            <a:normAutofit fontScale="80000"/>
          </a:bodyPr>
          <a:p>
            <a:pPr marL="0" indent="0">
              <a:buNone/>
              <a:defRPr/>
            </a:pPr>
            <a:r>
              <a:rPr lang="en-US" b="1">
                <a:solidFill>
                  <a:srgbClr val="92D050"/>
                </a:solidFill>
              </a:rPr>
              <a:t>(i) Purity of the metal</a:t>
            </a:r>
            <a:endParaRPr lang="en-US" b="1">
              <a:solidFill>
                <a:srgbClr val="92D050"/>
              </a:solidFill>
            </a:endParaRPr>
          </a:p>
          <a:p>
            <a:pPr marL="0" indent="0" algn="just">
              <a:buNone/>
              <a:defRPr/>
            </a:pPr>
            <a:r>
              <a:rPr lang="en-US"/>
              <a:t>A metal that is </a:t>
            </a:r>
            <a:r>
              <a:rPr lang="en-US">
                <a:solidFill>
                  <a:srgbClr val="FF0000"/>
                </a:solidFill>
              </a:rPr>
              <a:t>100% pure</a:t>
            </a:r>
            <a:r>
              <a:rPr lang="en-US"/>
              <a:t> is generally </a:t>
            </a:r>
            <a:r>
              <a:rPr lang="en-US">
                <a:solidFill>
                  <a:srgbClr val="FF0000"/>
                </a:solidFill>
              </a:rPr>
              <a:t>resistant</a:t>
            </a:r>
            <a:r>
              <a:rPr lang="en-US"/>
              <a:t> to all types of </a:t>
            </a:r>
            <a:r>
              <a:rPr lang="en-US">
                <a:solidFill>
                  <a:srgbClr val="FF0000"/>
                </a:solidFill>
              </a:rPr>
              <a:t>corrosion</a:t>
            </a:r>
            <a:r>
              <a:rPr lang="en-US"/>
              <a:t>.Even trace amounts of</a:t>
            </a:r>
            <a:r>
              <a:rPr lang="en-US">
                <a:solidFill>
                  <a:srgbClr val="FF0000"/>
                </a:solidFill>
              </a:rPr>
              <a:t> impurities</a:t>
            </a:r>
            <a:r>
              <a:rPr lang="en-US"/>
              <a:t> can trigger galvanic corrosion when the </a:t>
            </a:r>
            <a:r>
              <a:rPr lang="en-US">
                <a:solidFill>
                  <a:srgbClr val="FF0000"/>
                </a:solidFill>
              </a:rPr>
              <a:t>metal is exposed</a:t>
            </a:r>
            <a:r>
              <a:rPr lang="en-US"/>
              <a:t> to a </a:t>
            </a:r>
            <a:r>
              <a:rPr lang="en-US">
                <a:solidFill>
                  <a:srgbClr val="FF0000"/>
                </a:solidFill>
              </a:rPr>
              <a:t>corrosive environment</a:t>
            </a:r>
            <a:r>
              <a:rPr lang="en-US"/>
              <a:t>. As the level of </a:t>
            </a:r>
            <a:r>
              <a:rPr lang="en-US">
                <a:solidFill>
                  <a:srgbClr val="FF0000"/>
                </a:solidFill>
              </a:rPr>
              <a:t>impurities increases</a:t>
            </a:r>
            <a:r>
              <a:rPr lang="en-US"/>
              <a:t>, the </a:t>
            </a:r>
            <a:r>
              <a:rPr lang="en-US">
                <a:solidFill>
                  <a:srgbClr val="FF0000"/>
                </a:solidFill>
              </a:rPr>
              <a:t>rate of corrosion accelerates</a:t>
            </a:r>
            <a:r>
              <a:rPr lang="en-US"/>
              <a:t> </a:t>
            </a:r>
            <a:endParaRPr lang="en-US"/>
          </a:p>
          <a:p>
            <a:pPr marL="0" indent="0" algn="just">
              <a:buNone/>
              <a:defRPr/>
            </a:pPr>
            <a:r>
              <a:rPr lang="en-US"/>
              <a:t>For example, the </a:t>
            </a:r>
            <a:r>
              <a:rPr lang="en-US">
                <a:solidFill>
                  <a:srgbClr val="FF0000"/>
                </a:solidFill>
              </a:rPr>
              <a:t>corrosion rate of aluminium in hydrochloric acid (HCI) </a:t>
            </a:r>
            <a:r>
              <a:rPr lang="en-US">
                <a:solidFill>
                  <a:schemeClr val="tx1"/>
                </a:solidFill>
              </a:rPr>
              <a:t>demonstrates this effect</a:t>
            </a:r>
            <a:endParaRPr lang="en-US">
              <a:solidFill>
                <a:srgbClr val="FF0000"/>
              </a:solidFill>
            </a:endParaRPr>
          </a:p>
          <a:p>
            <a:pPr marL="0" indent="0" algn="just">
              <a:buNone/>
              <a:defRPr/>
            </a:pPr>
            <a:endParaRPr lang="en-US" b="1">
              <a:solidFill>
                <a:srgbClr val="92D050"/>
              </a:solidFill>
            </a:endParaRPr>
          </a:p>
          <a:p>
            <a:pPr marL="0" indent="0" algn="just">
              <a:buNone/>
              <a:defRPr/>
            </a:pPr>
            <a:r>
              <a:rPr lang="en-US" b="1">
                <a:solidFill>
                  <a:srgbClr val="92D050"/>
                </a:solidFill>
              </a:rPr>
              <a:t>(ii) Relative area of electrodes</a:t>
            </a:r>
            <a:endParaRPr lang="en-US" b="1">
              <a:solidFill>
                <a:srgbClr val="92D050"/>
              </a:solidFill>
            </a:endParaRPr>
          </a:p>
          <a:p>
            <a:pPr marL="0" indent="0" algn="just">
              <a:buNone/>
              <a:defRPr/>
            </a:pPr>
            <a:r>
              <a:rPr lang="en-US">
                <a:solidFill>
                  <a:srgbClr val="FF0000"/>
                </a:solidFill>
              </a:rPr>
              <a:t>Corrosion mainly takes place at anodic regions</a:t>
            </a:r>
            <a:r>
              <a:rPr lang="en-US"/>
              <a:t> due to the </a:t>
            </a:r>
            <a:r>
              <a:rPr lang="en-US">
                <a:solidFill>
                  <a:srgbClr val="FF0000"/>
                </a:solidFill>
              </a:rPr>
              <a:t>oxidation of metal</a:t>
            </a:r>
            <a:r>
              <a:rPr lang="en-US"/>
              <a:t>. The rate at which this corrosion progresses is greatly </a:t>
            </a:r>
            <a:r>
              <a:rPr lang="en-US">
                <a:solidFill>
                  <a:srgbClr val="FF0000"/>
                </a:solidFill>
              </a:rPr>
              <a:t>affected by the size of the cathodic area.</a:t>
            </a:r>
            <a:endParaRPr lang="en-US">
              <a:solidFill>
                <a:srgbClr val="FF0000"/>
              </a:solidFill>
            </a:endParaRPr>
          </a:p>
          <a:p>
            <a:pPr marL="0" indent="0" algn="just">
              <a:buNone/>
              <a:defRPr/>
            </a:pPr>
            <a:r>
              <a:rPr lang="en-US"/>
              <a:t>A </a:t>
            </a:r>
            <a:r>
              <a:rPr lang="en-US">
                <a:solidFill>
                  <a:srgbClr val="FF0000"/>
                </a:solidFill>
              </a:rPr>
              <a:t>larger cathodic area speeds up the corrosion process</a:t>
            </a:r>
            <a:r>
              <a:rPr lang="en-US"/>
              <a:t> because it demands </a:t>
            </a:r>
            <a:r>
              <a:rPr lang="en-US">
                <a:solidFill>
                  <a:srgbClr val="FF0000"/>
                </a:solidFill>
              </a:rPr>
              <a:t>more electrons for reduction</a:t>
            </a:r>
            <a:r>
              <a:rPr lang="en-US"/>
              <a:t>, which must be supplied by the </a:t>
            </a:r>
            <a:r>
              <a:rPr lang="en-US">
                <a:solidFill>
                  <a:srgbClr val="FF0000"/>
                </a:solidFill>
              </a:rPr>
              <a:t>smaller anodic area</a:t>
            </a:r>
            <a:r>
              <a:rPr lang="en-US"/>
              <a:t>. This increased electron flow intensifies the </a:t>
            </a:r>
            <a:r>
              <a:rPr lang="en-US">
                <a:solidFill>
                  <a:srgbClr val="FF0000"/>
                </a:solidFill>
              </a:rPr>
              <a:t>metal's degradation at the anode.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6642042" name="Content Placeholder 2"/>
          <p:cNvSpPr>
            <a:spLocks noGrp="1"/>
          </p:cNvSpPr>
          <p:nvPr>
            <p:ph idx="1"/>
          </p:nvPr>
        </p:nvSpPr>
        <p:spPr bwMode="auto">
          <a:xfrm>
            <a:off x="838200" y="242570"/>
            <a:ext cx="10515600" cy="5934710"/>
          </a:xfrm>
        </p:spPr>
        <p:txBody>
          <a:bodyPr>
            <a:normAutofit/>
          </a:bodyPr>
          <a:p>
            <a:pPr marL="0" indent="0">
              <a:buNone/>
              <a:defRPr/>
            </a:pPr>
            <a:r>
              <a:rPr lang="en-US" b="1">
                <a:solidFill>
                  <a:srgbClr val="00B050"/>
                </a:solidFill>
              </a:rPr>
              <a:t>(iii) Position in galvanic series</a:t>
            </a:r>
            <a:endParaRPr lang="en-US" b="1">
              <a:solidFill>
                <a:srgbClr val="00B050"/>
              </a:solidFill>
            </a:endParaRPr>
          </a:p>
          <a:p>
            <a:pPr>
              <a:defRPr/>
            </a:pPr>
            <a:endParaRPr lang="en-US"/>
          </a:p>
          <a:p>
            <a:pPr marL="0" indent="0" algn="just">
              <a:buNone/>
              <a:defRPr/>
            </a:pPr>
            <a:r>
              <a:rPr lang="en-US"/>
              <a:t>The </a:t>
            </a:r>
            <a:r>
              <a:rPr lang="en-US">
                <a:solidFill>
                  <a:srgbClr val="FF0000"/>
                </a:solidFill>
              </a:rPr>
              <a:t>corrosion rate is affected</a:t>
            </a:r>
            <a:r>
              <a:rPr lang="en-US"/>
              <a:t> by the relative placement of metals in the </a:t>
            </a:r>
            <a:r>
              <a:rPr lang="en-US">
                <a:solidFill>
                  <a:srgbClr val="FF0000"/>
                </a:solidFill>
              </a:rPr>
              <a:t>electromotive force (emf) series</a:t>
            </a:r>
            <a:r>
              <a:rPr lang="en-US"/>
              <a:t>. A </a:t>
            </a:r>
            <a:r>
              <a:rPr lang="en-US">
                <a:solidFill>
                  <a:srgbClr val="FF0000"/>
                </a:solidFill>
              </a:rPr>
              <a:t>larger gap</a:t>
            </a:r>
            <a:r>
              <a:rPr lang="en-US"/>
              <a:t> between their positions corresponds to a </a:t>
            </a:r>
            <a:r>
              <a:rPr lang="en-US">
                <a:solidFill>
                  <a:srgbClr val="FF0000"/>
                </a:solidFill>
              </a:rPr>
              <a:t>faster corrosion rate</a:t>
            </a:r>
            <a:endParaRPr lang="en-US"/>
          </a:p>
          <a:p>
            <a:pPr marL="0" indent="0" algn="just">
              <a:buNone/>
              <a:defRPr/>
            </a:pPr>
            <a:r>
              <a:rPr lang="en-US"/>
              <a:t>In particular, </a:t>
            </a:r>
            <a:r>
              <a:rPr lang="en-US">
                <a:solidFill>
                  <a:srgbClr val="FF0000"/>
                </a:solidFill>
              </a:rPr>
              <a:t>metals located above hydrogen in the emf series are more prone to corrosion</a:t>
            </a:r>
            <a:r>
              <a:rPr lang="en-US"/>
              <a:t>, that is, </a:t>
            </a:r>
            <a:r>
              <a:rPr lang="en-US">
                <a:solidFill>
                  <a:srgbClr val="FF0000"/>
                </a:solidFill>
              </a:rPr>
              <a:t>metals with lower reduction potentials tend to corrode more quickly</a:t>
            </a:r>
            <a:endParaRPr lang="en-US"/>
          </a:p>
          <a:p>
            <a:pPr algn="just">
              <a:defRPr/>
            </a:pPr>
            <a:endParaRPr lang="en-US"/>
          </a:p>
          <a:p>
            <a:pPr marL="0" indent="0" algn="just">
              <a:buNone/>
              <a:defRPr/>
            </a:pPr>
            <a:r>
              <a:rPr lang="en-US" b="1">
                <a:solidFill>
                  <a:srgbClr val="00B050"/>
                </a:solidFill>
              </a:rPr>
              <a:t>(iv) Over voltage</a:t>
            </a:r>
            <a:endParaRPr lang="en-US"/>
          </a:p>
          <a:p>
            <a:pPr marL="0" indent="0" algn="just">
              <a:buNone/>
              <a:defRPr/>
            </a:pPr>
            <a:r>
              <a:rPr lang="en-US"/>
              <a:t>The overvoltage of a metal in a </a:t>
            </a:r>
            <a:r>
              <a:rPr lang="en-US">
                <a:solidFill>
                  <a:srgbClr val="FF0000"/>
                </a:solidFill>
              </a:rPr>
              <a:t>corrosive environment is inversely related to the rate of corrosion.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1539433" name="Content Placeholder 2"/>
          <p:cNvSpPr>
            <a:spLocks noGrp="1"/>
          </p:cNvSpPr>
          <p:nvPr>
            <p:ph idx="1"/>
          </p:nvPr>
        </p:nvSpPr>
        <p:spPr bwMode="auto">
          <a:xfrm>
            <a:off x="838200" y="536575"/>
            <a:ext cx="10515600" cy="5640705"/>
          </a:xfrm>
        </p:spPr>
        <p:txBody>
          <a:bodyPr>
            <a:normAutofit fontScale="25000"/>
          </a:bodyPr>
          <a:p>
            <a:pPr marL="0" indent="0">
              <a:buNone/>
              <a:defRPr/>
            </a:pPr>
            <a:r>
              <a:rPr lang="en-US" sz="9000" b="1">
                <a:solidFill>
                  <a:srgbClr val="00B050"/>
                </a:solidFill>
                <a:latin typeface="Times New Roman"/>
                <a:cs typeface="Times New Roman"/>
              </a:rPr>
              <a:t>(v) Nature of the surface film</a:t>
            </a:r>
            <a:endParaRPr lang="en-US" sz="9000" b="1">
              <a:solidFill>
                <a:srgbClr val="00B050"/>
              </a:solidFill>
              <a:latin typeface="Times New Roman"/>
              <a:cs typeface="Times New Roman"/>
            </a:endParaRPr>
          </a:p>
          <a:p>
            <a:pPr marL="0" indent="0">
              <a:buNone/>
              <a:defRPr/>
            </a:pPr>
            <a:r>
              <a:rPr lang="en-US" sz="9000">
                <a:latin typeface="Times New Roman"/>
                <a:cs typeface="Times New Roman"/>
              </a:rPr>
              <a:t>The type of film that forms on a metal's surface plays a key role in determining the severity of corrosion</a:t>
            </a:r>
            <a:endParaRPr lang="en-US" sz="9000">
              <a:latin typeface="Times New Roman"/>
              <a:cs typeface="Times New Roman"/>
            </a:endParaRPr>
          </a:p>
          <a:p>
            <a:pPr>
              <a:buFont typeface="Wingdings"/>
              <a:buChar char="v"/>
              <a:defRPr/>
            </a:pPr>
            <a:r>
              <a:rPr lang="en-US" sz="9000">
                <a:solidFill>
                  <a:srgbClr val="FF0000"/>
                </a:solidFill>
                <a:latin typeface="Times New Roman"/>
                <a:cs typeface="Times New Roman"/>
              </a:rPr>
              <a:t>For alkali and alkaline earth metals,</a:t>
            </a:r>
            <a:r>
              <a:rPr lang="en-US" sz="9000">
                <a:latin typeface="Times New Roman"/>
                <a:cs typeface="Times New Roman"/>
              </a:rPr>
              <a:t> the oxide film is </a:t>
            </a:r>
            <a:r>
              <a:rPr lang="en-US" sz="9000">
                <a:solidFill>
                  <a:srgbClr val="FF0000"/>
                </a:solidFill>
                <a:latin typeface="Times New Roman"/>
                <a:cs typeface="Times New Roman"/>
              </a:rPr>
              <a:t>porous and non-protective</a:t>
            </a:r>
            <a:r>
              <a:rPr lang="en-US" sz="9000">
                <a:latin typeface="Times New Roman"/>
                <a:cs typeface="Times New Roman"/>
              </a:rPr>
              <a:t>, resulting in a </a:t>
            </a:r>
            <a:r>
              <a:rPr lang="en-US" sz="9000">
                <a:solidFill>
                  <a:srgbClr val="FF0000"/>
                </a:solidFill>
                <a:latin typeface="Times New Roman"/>
                <a:cs typeface="Times New Roman"/>
              </a:rPr>
              <a:t>higher and continuous corrosion rate</a:t>
            </a:r>
            <a:endParaRPr lang="en-US" sz="9000">
              <a:latin typeface="Times New Roman"/>
              <a:cs typeface="Times New Roman"/>
            </a:endParaRPr>
          </a:p>
          <a:p>
            <a:pPr>
              <a:buFont typeface="Wingdings"/>
              <a:buChar char="v"/>
              <a:defRPr/>
            </a:pPr>
            <a:r>
              <a:rPr lang="en-US" sz="9000">
                <a:solidFill>
                  <a:srgbClr val="FF0000"/>
                </a:solidFill>
                <a:latin typeface="Times New Roman"/>
                <a:cs typeface="Times New Roman"/>
              </a:rPr>
              <a:t>For heavy metals</a:t>
            </a:r>
            <a:r>
              <a:rPr lang="en-US" sz="9000">
                <a:latin typeface="Times New Roman"/>
                <a:cs typeface="Times New Roman"/>
              </a:rPr>
              <a:t>, the oxide film is </a:t>
            </a:r>
            <a:r>
              <a:rPr lang="en-US" sz="9000">
                <a:solidFill>
                  <a:srgbClr val="FF0000"/>
                </a:solidFill>
                <a:latin typeface="Times New Roman"/>
                <a:cs typeface="Times New Roman"/>
              </a:rPr>
              <a:t>dense and non-porous</a:t>
            </a:r>
            <a:r>
              <a:rPr lang="en-US" sz="9000">
                <a:latin typeface="Times New Roman"/>
                <a:cs typeface="Times New Roman"/>
              </a:rPr>
              <a:t>, serving as a </a:t>
            </a:r>
            <a:r>
              <a:rPr lang="en-US" sz="9000">
                <a:solidFill>
                  <a:srgbClr val="FF0000"/>
                </a:solidFill>
                <a:latin typeface="Times New Roman"/>
                <a:cs typeface="Times New Roman"/>
              </a:rPr>
              <a:t>protective barrier</a:t>
            </a:r>
            <a:endParaRPr lang="en-US" sz="900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>
              <a:buFont typeface="Wingdings"/>
              <a:buChar char="v"/>
              <a:defRPr/>
            </a:pPr>
            <a:r>
              <a:rPr lang="en-US" sz="9000">
                <a:latin typeface="Times New Roman"/>
                <a:cs typeface="Times New Roman"/>
              </a:rPr>
              <a:t>if the </a:t>
            </a:r>
            <a:r>
              <a:rPr lang="en-US" sz="9000">
                <a:solidFill>
                  <a:srgbClr val="FF0000"/>
                </a:solidFill>
                <a:latin typeface="Times New Roman"/>
                <a:cs typeface="Times New Roman"/>
              </a:rPr>
              <a:t>corrosion products</a:t>
            </a:r>
            <a:r>
              <a:rPr lang="en-US" sz="9000">
                <a:latin typeface="Times New Roman"/>
                <a:cs typeface="Times New Roman"/>
              </a:rPr>
              <a:t> on the metal surface are </a:t>
            </a:r>
            <a:r>
              <a:rPr lang="en-US" sz="9000">
                <a:solidFill>
                  <a:srgbClr val="FF0000"/>
                </a:solidFill>
                <a:latin typeface="Times New Roman"/>
                <a:cs typeface="Times New Roman"/>
              </a:rPr>
              <a:t>soluble</a:t>
            </a:r>
            <a:r>
              <a:rPr lang="en-US" sz="9000">
                <a:latin typeface="Times New Roman"/>
                <a:cs typeface="Times New Roman"/>
              </a:rPr>
              <a:t> in the surrounding </a:t>
            </a:r>
            <a:r>
              <a:rPr lang="en-US" sz="9000">
                <a:solidFill>
                  <a:srgbClr val="FF0000"/>
                </a:solidFill>
                <a:latin typeface="Times New Roman"/>
                <a:cs typeface="Times New Roman"/>
              </a:rPr>
              <a:t>environment, corrosion proceeds more rapidly</a:t>
            </a:r>
            <a:r>
              <a:rPr lang="en-US" sz="9000">
                <a:latin typeface="Times New Roman"/>
                <a:cs typeface="Times New Roman"/>
              </a:rPr>
              <a:t>.</a:t>
            </a:r>
            <a:endParaRPr lang="en-US" sz="9000">
              <a:latin typeface="Times New Roman"/>
              <a:cs typeface="Times New Roman"/>
            </a:endParaRPr>
          </a:p>
          <a:p>
            <a:pPr marL="0" indent="0">
              <a:buNone/>
              <a:defRPr/>
            </a:pPr>
            <a:r>
              <a:rPr lang="en-US" sz="9000" b="1">
                <a:solidFill>
                  <a:srgbClr val="00B050"/>
                </a:solidFill>
                <a:latin typeface="Times New Roman"/>
                <a:cs typeface="Times New Roman"/>
              </a:rPr>
              <a:t>vi) Nature of corrosion product</a:t>
            </a:r>
            <a:endParaRPr lang="en-US" sz="9000" b="1">
              <a:solidFill>
                <a:srgbClr val="00B050"/>
              </a:solidFill>
              <a:latin typeface="Times New Roman"/>
              <a:cs typeface="Times New Roman"/>
            </a:endParaRPr>
          </a:p>
          <a:p>
            <a:pPr marL="0" indent="0">
              <a:buNone/>
              <a:defRPr/>
            </a:pPr>
            <a:r>
              <a:rPr lang="en-US" sz="11200">
                <a:latin typeface="Times New Roman"/>
                <a:cs typeface="Times New Roman"/>
              </a:rPr>
              <a:t>When the </a:t>
            </a:r>
            <a:r>
              <a:rPr lang="en-US" sz="11200">
                <a:solidFill>
                  <a:srgbClr val="FF0000"/>
                </a:solidFill>
                <a:latin typeface="Times New Roman"/>
                <a:cs typeface="Times New Roman"/>
              </a:rPr>
              <a:t>corrosion product dissolves </a:t>
            </a:r>
            <a:r>
              <a:rPr lang="en-US" sz="11200">
                <a:latin typeface="Times New Roman"/>
                <a:cs typeface="Times New Roman"/>
              </a:rPr>
              <a:t>in the </a:t>
            </a:r>
            <a:r>
              <a:rPr lang="en-US" sz="11200">
                <a:solidFill>
                  <a:srgbClr val="FF0000"/>
                </a:solidFill>
                <a:latin typeface="Times New Roman"/>
                <a:cs typeface="Times New Roman"/>
              </a:rPr>
              <a:t>corrosive medium</a:t>
            </a:r>
            <a:r>
              <a:rPr lang="en-US" sz="11200">
                <a:latin typeface="Times New Roman"/>
                <a:cs typeface="Times New Roman"/>
              </a:rPr>
              <a:t>, the </a:t>
            </a:r>
            <a:r>
              <a:rPr lang="en-US" sz="11200">
                <a:solidFill>
                  <a:srgbClr val="FF0000"/>
                </a:solidFill>
                <a:latin typeface="Times New Roman"/>
                <a:cs typeface="Times New Roman"/>
              </a:rPr>
              <a:t>corrosion rate increses</a:t>
            </a:r>
            <a:r>
              <a:rPr lang="en-US" sz="11200">
                <a:latin typeface="Times New Roman"/>
                <a:cs typeface="Times New Roman"/>
              </a:rPr>
              <a:t> Similarly, if the </a:t>
            </a:r>
            <a:r>
              <a:rPr lang="en-US" sz="11200">
                <a:solidFill>
                  <a:srgbClr val="FF0000"/>
                </a:solidFill>
                <a:latin typeface="Times New Roman"/>
                <a:cs typeface="Times New Roman"/>
              </a:rPr>
              <a:t>corrosion product is volatile</a:t>
            </a:r>
            <a:r>
              <a:rPr lang="en-US" sz="11200">
                <a:latin typeface="Times New Roman"/>
                <a:cs typeface="Times New Roman"/>
              </a:rPr>
              <a:t>-like molybdenum trioxide (MoOs) on a molybdenu surface-the corresion process is also </a:t>
            </a:r>
            <a:r>
              <a:rPr lang="en-US" sz="11200">
                <a:solidFill>
                  <a:srgbClr val="FF0000"/>
                </a:solidFill>
                <a:latin typeface="Times New Roman"/>
                <a:cs typeface="Times New Roman"/>
              </a:rPr>
              <a:t>accelerated.</a:t>
            </a:r>
            <a:endParaRPr lang="en-US" sz="1120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0952020" name="Content Placeholder 2"/>
          <p:cNvSpPr>
            <a:spLocks noGrp="1"/>
          </p:cNvSpPr>
          <p:nvPr>
            <p:ph idx="1"/>
          </p:nvPr>
        </p:nvSpPr>
        <p:spPr bwMode="auto">
          <a:xfrm>
            <a:off x="838200" y="478155"/>
            <a:ext cx="10515600" cy="5699125"/>
          </a:xfrm>
        </p:spPr>
        <p:txBody>
          <a:bodyPr>
            <a:normAutofit fontScale="80000"/>
          </a:bodyPr>
          <a:p>
            <a:pPr marL="0" indent="0">
              <a:buNone/>
              <a:defRPr/>
            </a:pPr>
            <a:r>
              <a:rPr lang="en-US" b="1">
                <a:solidFill>
                  <a:srgbClr val="92D050"/>
                </a:solidFill>
              </a:rPr>
              <a:t>Nature of the environment</a:t>
            </a:r>
            <a:endParaRPr lang="en-US" b="1">
              <a:solidFill>
                <a:srgbClr val="92D050"/>
              </a:solidFill>
            </a:endParaRPr>
          </a:p>
          <a:p>
            <a:pPr>
              <a:defRPr/>
            </a:pPr>
            <a:endParaRPr lang="en-US"/>
          </a:p>
          <a:p>
            <a:pPr algn="just">
              <a:defRPr/>
            </a:pPr>
            <a:r>
              <a:rPr lang="en-US" b="1">
                <a:solidFill>
                  <a:srgbClr val="FF0000"/>
                </a:solidFill>
              </a:rPr>
              <a:t>Temperature</a:t>
            </a:r>
            <a:r>
              <a:rPr lang="en-US"/>
              <a:t> :The </a:t>
            </a:r>
            <a:r>
              <a:rPr lang="en-US">
                <a:solidFill>
                  <a:srgbClr val="FF0000"/>
                </a:solidFill>
              </a:rPr>
              <a:t>rate of corrosion increases with temperature</a:t>
            </a:r>
            <a:r>
              <a:rPr lang="en-US"/>
              <a:t>, as the temperature rises, cortusion accelerates. This happens because higher temperatures boost the diffusion rate of ions, which in tim speeds up the electrochemical reactions responsible for corrosion</a:t>
            </a:r>
            <a:endParaRPr lang="en-US"/>
          </a:p>
          <a:p>
            <a:pPr algn="just">
              <a:defRPr/>
            </a:pPr>
            <a:endParaRPr lang="en-US"/>
          </a:p>
          <a:p>
            <a:pPr algn="just">
              <a:defRPr/>
            </a:pPr>
            <a:r>
              <a:rPr lang="en-US" b="1">
                <a:solidFill>
                  <a:srgbClr val="FF0000"/>
                </a:solidFill>
              </a:rPr>
              <a:t>Humidity:</a:t>
            </a:r>
            <a:r>
              <a:rPr lang="en-US"/>
              <a:t> </a:t>
            </a:r>
            <a:r>
              <a:rPr lang="en-US">
                <a:solidFill>
                  <a:srgbClr val="FF0000"/>
                </a:solidFill>
              </a:rPr>
              <a:t>Corrosion rates rise</a:t>
            </a:r>
            <a:r>
              <a:rPr lang="en-US"/>
              <a:t> considerably in environments with </a:t>
            </a:r>
            <a:r>
              <a:rPr lang="en-US">
                <a:solidFill>
                  <a:srgbClr val="FF0000"/>
                </a:solidFill>
              </a:rPr>
              <a:t>high relative humidity in conditions</a:t>
            </a:r>
            <a:r>
              <a:rPr lang="en-US"/>
              <a:t>, moisture acts as a solvent for gases like oxygen (O₂), carbon dioxide (CO₂), and s dioxide (50) found in the air. This leads to the formation of electrolytes, which are crucial for c a corrosion cell</a:t>
            </a:r>
            <a:endParaRPr lang="en-US"/>
          </a:p>
          <a:p>
            <a:pPr algn="just">
              <a:defRPr/>
            </a:pPr>
            <a:endParaRPr lang="en-US"/>
          </a:p>
          <a:p>
            <a:pPr algn="just">
              <a:defRPr/>
            </a:pPr>
            <a:r>
              <a:rPr lang="en-US">
                <a:solidFill>
                  <a:srgbClr val="FF0000"/>
                </a:solidFill>
              </a:rPr>
              <a:t>pH</a:t>
            </a:r>
            <a:r>
              <a:rPr lang="en-GB">
                <a:solidFill>
                  <a:srgbClr val="FF0000"/>
                </a:solidFill>
              </a:rPr>
              <a:t> </a:t>
            </a:r>
            <a:r>
              <a:rPr lang="en-US">
                <a:solidFill>
                  <a:srgbClr val="FF0000"/>
                </a:solidFill>
              </a:rPr>
              <a:t>of the corrosive environment:</a:t>
            </a:r>
            <a:r>
              <a:rPr lang="en-US"/>
              <a:t> </a:t>
            </a:r>
            <a:r>
              <a:rPr lang="en-US">
                <a:solidFill>
                  <a:srgbClr val="FF0000"/>
                </a:solidFill>
              </a:rPr>
              <a:t>Corrosion occurs most rapidly in acidic environments</a:t>
            </a:r>
            <a:r>
              <a:rPr lang="en-US"/>
              <a:t>, which generally </a:t>
            </a:r>
            <a:r>
              <a:rPr lang="en-US">
                <a:solidFill>
                  <a:srgbClr val="FF0000"/>
                </a:solidFill>
              </a:rPr>
              <a:t>more corrosive than neutral or alkaline conditions</a:t>
            </a:r>
            <a:r>
              <a:rPr lang="en-US"/>
              <a:t>. However, certain metals like Al and Zn can also dissolve in alkaline media.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289125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964841" y="1158874"/>
            <a:ext cx="4911158" cy="4242012"/>
          </a:xfrm>
          <a:prstGeom prst="rect">
            <a:avLst/>
          </a:prstGeom>
        </p:spPr>
      </p:pic>
      <p:sp>
        <p:nvSpPr>
          <p:cNvPr id="7472827" name=""/>
          <p:cNvSpPr txBox="1"/>
          <p:nvPr/>
        </p:nvSpPr>
        <p:spPr bwMode="auto">
          <a:xfrm rot="0" flipH="0" flipV="0">
            <a:off x="239749" y="1079499"/>
            <a:ext cx="5651824" cy="48466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indent="0" algn="just">
              <a:buNone/>
              <a:defRPr/>
            </a:pPr>
            <a:r>
              <a:rPr lang="en-GB" sz="24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Figure - clearly illustrates the regions of </a:t>
            </a:r>
            <a:r>
              <a:rPr lang="en-GB" sz="2400" b="1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passivity, immunity, and corrosion</a:t>
            </a:r>
            <a:r>
              <a:rPr lang="en-GB" sz="24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lang="en-GB" sz="2400" b="1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 algn="just">
              <a:buNone/>
              <a:defRPr/>
            </a:pPr>
            <a:r>
              <a:rPr lang="en-GB" sz="24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In this diagram, point P represents a pH of 7 with a corresponding </a:t>
            </a:r>
            <a:r>
              <a:rPr lang="en-GB" sz="2400" b="1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electrode potential of -0.4 V</a:t>
            </a:r>
            <a:r>
              <a:rPr lang="en-GB" sz="24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. It is evident that this point lies within the corrosion zone, indicating that under these conditions, </a:t>
            </a:r>
            <a:r>
              <a:rPr lang="en-GB" sz="2400" b="1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iron undergoes corrosion rusting</a:t>
            </a:r>
            <a:r>
              <a:rPr lang="en-GB" sz="24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. The </a:t>
            </a:r>
            <a:r>
              <a:rPr lang="en-GB" sz="2400" b="1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corrosion rate of iron</a:t>
            </a:r>
            <a:r>
              <a:rPr lang="en-GB" sz="24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can be </a:t>
            </a:r>
            <a:r>
              <a:rPr lang="en-GB" sz="2400" b="1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altered</a:t>
            </a:r>
            <a:r>
              <a:rPr lang="en-GB" sz="24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by </a:t>
            </a:r>
            <a:r>
              <a:rPr lang="en-GB" sz="2400" b="1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moving point P</a:t>
            </a:r>
            <a:r>
              <a:rPr lang="en-GB" sz="24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into either the immunity or pass regions This shift can be accomplished by adjusting the electrode potential as described below</a:t>
            </a:r>
            <a:endParaRPr sz="2400" b="1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5254417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8" y="333374"/>
            <a:ext cx="10515600" cy="5843587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endParaRPr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8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</a:t>
            </a:r>
            <a:r>
              <a:rPr lang="en-GB" sz="28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his shift can be accomplished by adjusting the electrode potential as described below</a:t>
            </a:r>
            <a:endParaRPr lang="en-GB" sz="2800" b="1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If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electrode potential adjusted to -0.8V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apply an external current, iron becomes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immune to corrosion</a:t>
            </a:r>
            <a:endParaRPr sz="2800" b="0" i="0" u="none" strike="noStrike" cap="none" spc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Applying a positive potential 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can reduce the corrosion rate, as it causes  passive state. </a:t>
            </a: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The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corrosion rate is highes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 when the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PH is below 7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meaning the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environment is acidic</a:t>
            </a:r>
            <a:endParaRPr sz="2800" b="0" i="0" u="none" strike="noStrike" cap="none" spc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The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corrosion rate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can be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decreased 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by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raising the PH 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of the solution through the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addition of alkalis</a:t>
            </a:r>
            <a:endParaRPr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057624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8" y="444499"/>
            <a:ext cx="10515600" cy="573246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 marL="0" indent="0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iv)Impurities in the environment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: </a:t>
            </a:r>
            <a:endParaRPr lang="en-GB" sz="28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Atmospheric impurities from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industrial exhaust gases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-Sulphur dioxide (SO2),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Sulphur 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trioxide (50%), nitrogen oxides (NOx), carbon dioxide (CO2), and carbon monoxide (CO)-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along with fumes from hydrochloric acid (HCl) and sulphuric acid (H2SO4)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lead to the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formation of acidic electrolytes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. </a:t>
            </a:r>
            <a:endParaRPr sz="28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These 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acidic 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electrolytes greatly accelerate the electrochemical corrosion process</a:t>
            </a: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"/>
              <a:buChar char="v"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Presence of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suspended particles. </a:t>
            </a:r>
            <a:endParaRPr sz="2800" b="0" i="0" u="none" strike="noStrike" cap="none" spc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>
              <a:buFont typeface="Wingdings"/>
              <a:buChar char="v"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Chemically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active substances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such as NaCl, (NH</a:t>
            </a:r>
            <a:r>
              <a:rPr lang="en-GB" sz="2800" b="0" i="0" u="none" strike="noStrike" cap="none" spc="0" baseline="-250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4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)</a:t>
            </a:r>
            <a:r>
              <a:rPr lang="en-GB" sz="2800" b="0" i="0" u="none" strike="noStrike" cap="none" spc="0" baseline="-250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SO</a:t>
            </a:r>
            <a:r>
              <a:rPr sz="2800" baseline="-25000">
                <a:latin typeface="Times New Roman"/>
                <a:ea typeface="Times New Roman"/>
                <a:cs typeface="Times New Roman"/>
              </a:rPr>
              <a:t>4</a:t>
            </a: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"/>
              <a:buChar char="v"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Chemically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neutral substances</a:t>
            </a: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"/>
              <a:buChar char="v"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Chemically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inactive substances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(such as charcoal)</a:t>
            </a: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"/>
              <a:buChar char="v"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These pollutants accelerate corrosion by creating concentration cells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93998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8" y="444499"/>
            <a:ext cx="10515600" cy="573246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Corrosion Control</a:t>
            </a:r>
            <a:endParaRPr sz="2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Corrosion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control is a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methods and techniques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designed to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prevent or reduce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the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degradation of metals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caused by their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interaction with the environment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. </a:t>
            </a:r>
            <a:endParaRPr sz="2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endParaRPr sz="2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Cathodic protection</a:t>
            </a:r>
            <a:endParaRPr lang="en-GB" sz="2600" b="0" i="0" u="none" strike="noStrike" cap="none" spc="0">
              <a:solidFill>
                <a:srgbClr val="FF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Cathodic protection is the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process of reducing or preventing corrosion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by converting the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metal structure into the cathode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of an electrochemical cell With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no anodic areas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present on the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metal corrosion is prevented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. </a:t>
            </a:r>
            <a:endParaRPr lang="en-GB" sz="26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endParaRPr lang="en-GB" sz="26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There are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two methods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used to apply cathodic protection to metallic structure</a:t>
            </a:r>
            <a:endParaRPr lang="en-GB" sz="26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buFont typeface="Wingdings"/>
              <a:buChar char="Ø"/>
              <a:defRPr/>
            </a:pP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Sacrificial anodic protection (SAP)</a:t>
            </a:r>
            <a:endParaRPr sz="2600" b="0" i="0" u="none" strike="noStrike" cap="none" spc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>
              <a:buFont typeface="Wingdings"/>
              <a:buChar char="Ø"/>
              <a:defRPr/>
            </a:pP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Impressed current cathodic protection (ICCP)</a:t>
            </a:r>
            <a:endParaRPr sz="260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9697214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55623" y="317498"/>
            <a:ext cx="6572249" cy="5859461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lang="en-GB" sz="2800" b="1" i="0" u="none" strike="noStrike" cap="none" spc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Sacrificial anodic protection method(SAP)</a:t>
            </a:r>
            <a:endParaRPr sz="2800" b="1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In this method, the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metal structure to be protected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is turned into a cathode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by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connecting it ta more active metal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known as the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anodic metal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. As a result,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corrosion occurs 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only on the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 more active metal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 protecting the original structure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. This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more active metal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is called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sacrificial anode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endParaRPr lang="en-GB" sz="28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When the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sacrificial anode corrodes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it is replaced with a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new one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lang="en-GB" sz="28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Common metal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used as sacrificial anodes include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magnesium, zinc, aluminium, and their alloys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Arial"/>
                <a:ea typeface="Arial"/>
                <a:cs typeface="Arial"/>
              </a:rPr>
              <a:t>.</a:t>
            </a:r>
            <a:endParaRPr>
              <a:solidFill>
                <a:srgbClr val="FF0000"/>
              </a:solidFill>
            </a:endParaRPr>
          </a:p>
        </p:txBody>
      </p:sp>
      <p:pic>
        <p:nvPicPr>
          <p:cNvPr id="133888219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811085" y="555624"/>
            <a:ext cx="5165465" cy="52546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8238665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8" y="301623"/>
            <a:ext cx="10515600" cy="638175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/>
          <a:p>
            <a:pPr marL="0" indent="0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rgbClr val="FF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GB" sz="2400" b="1" i="0" u="none" strike="noStrike" cap="none" spc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Advantages</a:t>
            </a:r>
            <a:endParaRPr sz="24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"/>
              <a:buChar char="v"/>
              <a:defRPr/>
            </a:pPr>
            <a:r>
              <a:rPr lang="en-GB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Requires</a:t>
            </a:r>
            <a:r>
              <a:rPr lang="en-GB" sz="24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 low cost for both installation and operation</a:t>
            </a:r>
            <a:endParaRPr sz="24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"/>
              <a:buChar char="v"/>
              <a:defRPr/>
            </a:pPr>
            <a:r>
              <a:rPr lang="en-GB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Even the</a:t>
            </a:r>
            <a:r>
              <a:rPr lang="en-GB" sz="24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 complex metal structures remain continuously protected</a:t>
            </a:r>
            <a:r>
              <a:rPr lang="en-GB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as long as the sacrificial anode is </a:t>
            </a:r>
            <a:r>
              <a:rPr lang="en-GB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present</a:t>
            </a:r>
            <a:r>
              <a:rPr lang="en-GB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24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"/>
              <a:buChar char="v"/>
              <a:defRPr/>
            </a:pPr>
            <a:r>
              <a:rPr lang="en-GB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Can be </a:t>
            </a:r>
            <a:r>
              <a:rPr lang="en-GB" sz="24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used effectively against </a:t>
            </a:r>
            <a:r>
              <a:rPr lang="en-GB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 wide variety of aggressive corrosive environments.</a:t>
            </a:r>
            <a:endParaRPr sz="24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400" b="1" i="0" u="none" strike="noStrike" cap="none" spc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Disadvantage</a:t>
            </a:r>
            <a:endParaRPr sz="24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"/>
              <a:buChar char="v"/>
              <a:defRPr/>
            </a:pPr>
            <a:r>
              <a:rPr lang="en-GB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 </a:t>
            </a:r>
            <a:r>
              <a:rPr lang="en-GB" sz="24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high initial current</a:t>
            </a:r>
            <a:r>
              <a:rPr lang="en-GB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is necessary to activate the system</a:t>
            </a:r>
            <a:endParaRPr sz="24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"/>
              <a:buChar char="v"/>
              <a:defRPr/>
            </a:pPr>
            <a:r>
              <a:rPr lang="en-GB" sz="24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Anodes need to be replaced</a:t>
            </a:r>
            <a:r>
              <a:rPr lang="en-GB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at regular intervals.</a:t>
            </a:r>
            <a:endParaRPr sz="24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"/>
              <a:buChar char="v"/>
              <a:defRPr/>
            </a:pPr>
            <a:r>
              <a:rPr lang="en-GB" sz="24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Uncoated areas are not protected </a:t>
            </a:r>
            <a:r>
              <a:rPr lang="en-GB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by this method</a:t>
            </a:r>
            <a:endParaRPr sz="24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400" b="1" i="0" u="none" strike="noStrike" cap="none" spc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Applications</a:t>
            </a:r>
            <a:endParaRPr sz="24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"/>
              <a:buChar char="v"/>
              <a:defRPr/>
            </a:pPr>
            <a:r>
              <a:rPr lang="en-GB" sz="24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Safeguards buried steel pipelines </a:t>
            </a:r>
            <a:r>
              <a:rPr lang="en-GB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against corrosion caused by soil conditions</a:t>
            </a:r>
            <a:endParaRPr sz="24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"/>
              <a:buChar char="v"/>
              <a:defRPr/>
            </a:pPr>
            <a:r>
              <a:rPr lang="en-GB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Widely applied to </a:t>
            </a:r>
            <a:r>
              <a:rPr lang="en-GB" sz="24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ship hulls, offshore structures, and submerged marine equipment</a:t>
            </a:r>
            <a:r>
              <a:rPr lang="en-GB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to protect against seawater corrosion.</a:t>
            </a:r>
            <a:endParaRPr sz="24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"/>
              <a:buChar char="v"/>
              <a:defRPr/>
            </a:pPr>
            <a:r>
              <a:rPr lang="en-GB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Employed in </a:t>
            </a:r>
            <a:r>
              <a:rPr lang="en-GB" sz="24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steel tanks located both underground and aboveground,</a:t>
            </a:r>
            <a:r>
              <a:rPr lang="en-GB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particularly those storing water or chemicals.</a:t>
            </a:r>
            <a:endParaRPr sz="24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"/>
              <a:buChar char="v"/>
              <a:defRPr/>
            </a:pPr>
            <a:r>
              <a:rPr lang="en-GB" sz="24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Magnesium or aluminium anode rods are installed inside water heaters</a:t>
            </a:r>
            <a:r>
              <a:rPr lang="en-GB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to prevent the tank from corroding</a:t>
            </a:r>
            <a:endParaRPr sz="24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9460540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8" y="142875"/>
            <a:ext cx="6624675" cy="603408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/>
          <a:p>
            <a:pPr marL="0" indent="0">
              <a:buFont typeface="Arial"/>
              <a:buNone/>
              <a:defRPr/>
            </a:pPr>
            <a:r>
              <a:rPr lang="en-GB" sz="2800" b="1" i="0" u="none" strike="noStrike" cap="none" spc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Impressed current cathodic protection (ICCP)</a:t>
            </a:r>
            <a:endParaRPr sz="2800" b="1" i="0" u="none" strike="noStrike" cap="none" spc="0">
              <a:solidFill>
                <a:srgbClr val="00B050"/>
              </a:solidFill>
              <a:latin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In this method, an i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mpressed current is applied in the opposite direction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to counteract the corrosion current, thereby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converting the corroding metal from an anode to a cathode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. </a:t>
            </a:r>
            <a:endParaRPr lang="en-GB" sz="28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The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impressed current comes from direct current sources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such as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 batteries or rectifiers connected to an A.C. line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and uses an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insoluble, inert anode like graphite, scrap iron, or platinum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lang="en-GB" sz="28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 sufficient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direct current is supplied to the inert anode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which is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buried in the soil or immersed in the corrosive environment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and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electrically connected to the metal structure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that needs protection. </a:t>
            </a:r>
            <a:endParaRPr lang="en-GB" sz="28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The anode is usually surrounded by a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backfill material, such as coke breeze of gypsum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to improve electrical contact with the surrounding soil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113860600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843874" y="555624"/>
            <a:ext cx="4063999" cy="5175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58044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8" y="54244"/>
            <a:ext cx="10515600" cy="612271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65000" lnSpcReduction="7000"/>
          </a:bodyPr>
          <a:lstStyle/>
          <a:p>
            <a:pPr marL="0" indent="0">
              <a:buFont typeface="Arial"/>
              <a:buNone/>
              <a:defRPr/>
            </a:pP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GB" sz="2800" b="1" i="0" u="none" strike="noStrike" cap="none" spc="0">
                <a:solidFill>
                  <a:srgbClr val="00B050"/>
                </a:solidFill>
                <a:latin typeface="Arial"/>
                <a:ea typeface="Arial"/>
                <a:cs typeface="Arial"/>
              </a:rPr>
              <a:t>Advantage</a:t>
            </a:r>
            <a:endParaRPr lang="en-GB" sz="2800" b="1" i="0" u="none" strike="noStrike" cap="none" spc="0">
              <a:solidFill>
                <a:srgbClr val="92D050"/>
              </a:solidFill>
              <a:latin typeface="Arial"/>
              <a:ea typeface="Arial"/>
              <a:cs typeface="Arial"/>
            </a:endParaRPr>
          </a:p>
          <a:p>
            <a:pPr>
              <a:buFont typeface="Wingdings"/>
              <a:buChar char="v"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Ideal for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Arial"/>
                <a:ea typeface="Arial"/>
                <a:cs typeface="Arial"/>
              </a:rPr>
              <a:t>safeguarding large metal 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structures such as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Arial"/>
                <a:ea typeface="Arial"/>
                <a:cs typeface="Arial"/>
              </a:rPr>
              <a:t>pipelines, storage tanks, and offshore platforms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.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buFont typeface="Wingdings"/>
              <a:buChar char="v"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Arial"/>
                <a:ea typeface="Arial"/>
                <a:cs typeface="Arial"/>
              </a:rPr>
              <a:t>current can be adjusted to deliver optimal protection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based on the specific environment and size of the structure.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buFont typeface="Wingdings"/>
              <a:buChar char="v"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It can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Arial"/>
                <a:ea typeface="Arial"/>
                <a:cs typeface="Arial"/>
              </a:rPr>
              <a:t>offer protection in soils or environments 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with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Arial"/>
                <a:ea typeface="Arial"/>
                <a:cs typeface="Arial"/>
              </a:rPr>
              <a:t>low electrical conductivity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, where sacrificial anodes might be less efficient.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GB" sz="2800" b="1" i="0" u="none" strike="noStrike" cap="none" spc="0">
                <a:solidFill>
                  <a:srgbClr val="00B050"/>
                </a:solidFill>
                <a:latin typeface="Arial"/>
                <a:ea typeface="Arial"/>
                <a:cs typeface="Arial"/>
              </a:rPr>
              <a:t>Disadvantages</a:t>
            </a:r>
            <a:endParaRPr lang="en-GB" sz="2800" b="1" i="0" u="none" strike="noStrike" cap="none" spc="0">
              <a:solidFill>
                <a:srgbClr val="92D050"/>
              </a:solidFill>
              <a:latin typeface="Arial"/>
              <a:ea typeface="Arial"/>
              <a:cs typeface="Arial"/>
            </a:endParaRPr>
          </a:p>
          <a:p>
            <a:pPr>
              <a:buFont typeface="Wingdings"/>
              <a:buChar char="v"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Arial"/>
                <a:ea typeface="Arial"/>
                <a:cs typeface="Arial"/>
              </a:rPr>
              <a:t>system requires a constant electricity supply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, which can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Arial"/>
                <a:ea typeface="Arial"/>
                <a:cs typeface="Arial"/>
              </a:rPr>
              <a:t>raise operational expenses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and add complexity.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buFont typeface="Wingdings"/>
              <a:buChar char="v"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Arial"/>
                <a:ea typeface="Arial"/>
                <a:cs typeface="Arial"/>
              </a:rPr>
              <a:t> installation and setup costs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are typically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Arial"/>
                <a:ea typeface="Arial"/>
                <a:cs typeface="Arial"/>
              </a:rPr>
              <a:t>higher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than those of sacrificial anode systems.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buFont typeface="Wingdings"/>
              <a:buChar char="v"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the power supply is interrupted, protection ceases, leaving the metal vulnerable to corrosion </a:t>
            </a:r>
            <a:endParaRPr lang="en-GB" sz="2800" b="1" i="0" u="none" strike="noStrike" cap="none" spc="0">
              <a:solidFill>
                <a:srgbClr val="92D050"/>
              </a:solidFill>
              <a:latin typeface="Arial"/>
              <a:ea typeface="Arial"/>
              <a:cs typeface="Arial"/>
            </a:endParaRPr>
          </a:p>
          <a:p>
            <a:pPr marL="0" indent="0">
              <a:buFont typeface="Wingdings"/>
              <a:buNone/>
              <a:defRPr/>
            </a:pPr>
            <a:r>
              <a:rPr lang="en-GB" sz="2800" b="1" i="0" u="none" strike="noStrike" cap="none" spc="0">
                <a:solidFill>
                  <a:srgbClr val="00B050"/>
                </a:solidFill>
                <a:latin typeface="Arial"/>
                <a:ea typeface="Arial"/>
                <a:cs typeface="Arial"/>
              </a:rPr>
              <a:t>Applications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buFont typeface="Wingdings"/>
              <a:buChar char="v"/>
              <a:defRPr/>
            </a:pPr>
            <a:r>
              <a:rPr lang="en-GB" sz="2800" b="0" i="0" u="none" strike="noStrike" cap="none" spc="0">
                <a:solidFill>
                  <a:srgbClr val="FF0000"/>
                </a:solidFill>
                <a:latin typeface="Arial"/>
                <a:ea typeface="Arial"/>
                <a:cs typeface="Arial"/>
              </a:rPr>
              <a:t>Protects the metallic sheathing of underwater communication and power cables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from corrosion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buFont typeface="Wingdings"/>
              <a:buChar char="v"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Applied to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Arial"/>
                <a:ea typeface="Arial"/>
                <a:cs typeface="Arial"/>
              </a:rPr>
              <a:t> large ships and vessels to guard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against corrosion caused by seawater exposure.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buFont typeface="Wingdings"/>
              <a:buChar char="v"/>
              <a:defRPr/>
            </a:pPr>
            <a:r>
              <a:rPr lang="en-GB" sz="2800" b="0" i="0" u="none" strike="noStrike" cap="none" spc="0">
                <a:solidFill>
                  <a:srgbClr val="FF0000"/>
                </a:solidFill>
                <a:latin typeface="Arial"/>
                <a:ea typeface="Arial"/>
                <a:cs typeface="Arial"/>
              </a:rPr>
              <a:t>Shields metal parts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that are exposed to corrosive water conditions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buFont typeface="Wingdings"/>
              <a:buChar char="v"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Provides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Arial"/>
                <a:ea typeface="Arial"/>
                <a:cs typeface="Arial"/>
              </a:rPr>
              <a:t>protection to offshore oil rigs, platforms, and submerged pipelines 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exposed to seawater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485433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8" y="158749"/>
            <a:ext cx="10515600" cy="601821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lang="en-GB" sz="2800" b="1" i="0" u="none" strike="noStrike" cap="none" spc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Corrosion inhibitors</a:t>
            </a: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Inhibitors are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 chemical substances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that, when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added in small quantities to a corrosive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environment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significantly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reduce the rate of metal corrosion. </a:t>
            </a: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Inhibitors are classified into the</a:t>
            </a:r>
            <a:endParaRPr lang="en-GB" sz="28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three types:</a:t>
            </a:r>
            <a:endParaRPr sz="2800" b="0" i="0" u="none" strike="noStrike" cap="none" spc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>
              <a:buFont typeface="Wingdings"/>
              <a:buChar char="Ø"/>
              <a:defRPr/>
            </a:pP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Anodic inhibitors</a:t>
            </a:r>
            <a:endParaRPr sz="2800" b="0" i="0" u="none" strike="noStrike" cap="none" spc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>
              <a:buFont typeface="Wingdings"/>
              <a:buChar char="Ø"/>
              <a:defRPr/>
            </a:pP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Cathodic inhibitors</a:t>
            </a:r>
            <a:endParaRPr sz="2800" b="0" i="0" u="none" strike="noStrike" cap="none" spc="0">
              <a:solidFill>
                <a:srgbClr val="FF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buFont typeface="Wingdings"/>
              <a:buChar char="Ø"/>
              <a:defRPr/>
            </a:pP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Vapour phase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inhibitors</a:t>
            </a:r>
            <a:endParaRPr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pic>
        <p:nvPicPr>
          <p:cNvPr id="139178695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002337" y="2079624"/>
            <a:ext cx="4429162" cy="3492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765575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8" y="365124"/>
            <a:ext cx="10515600" cy="581183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 algn="just">
              <a:buFont typeface="Arial"/>
              <a:buNone/>
              <a:defRPr/>
            </a:pPr>
            <a:r>
              <a:rPr lang="en-GB" sz="2800" b="1" i="0" u="none" strike="noStrike" cap="none" spc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Anodic inhibitors</a:t>
            </a: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Anodic inhibitors are compounds that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slow down metal corrosion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by </a:t>
            </a:r>
            <a:r>
              <a:rPr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hlinkClick r:id="rId3" tooltip=""/>
              </a:rPr>
              <a:t>disturbance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the anodic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as reaction involved in the corrosion process. </a:t>
            </a:r>
            <a:endParaRPr lang="en-GB" sz="28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During corrosion,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metal undergoes oxidation at the anode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Anodic 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inhibitors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help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prevent this by forming thin, tightly adhering oxide layer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GB" sz="2800" b="1" i="0" u="none" strike="noStrike" cap="none" spc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Anodic inhibitors are used to repair-</a:t>
            </a:r>
            <a:endParaRPr sz="2800" b="0" i="0" u="none" strike="noStrike" cap="none" spc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algn="just">
              <a:defRPr/>
            </a:pP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Cracks in the oxide film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on the metal surface</a:t>
            </a: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just">
              <a:defRPr/>
            </a:pP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Pitting corrosion</a:t>
            </a:r>
            <a:endParaRPr sz="2800" b="0" i="0" u="none" strike="noStrike" cap="none" spc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algn="just"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Mends the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porous oxide film formed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on the metal.</a:t>
            </a: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Examples: Chromates, phosphates, and molybdates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257074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8" y="365124"/>
            <a:ext cx="10515600" cy="617537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 marL="0" indent="0">
              <a:buFont typeface="Arial"/>
              <a:buNone/>
              <a:defRPr/>
            </a:pPr>
            <a:r>
              <a:rPr lang="en-GB" sz="2600" b="1" i="0" u="none" strike="noStrike" cap="none" spc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(ii)Cathodic inhibitors</a:t>
            </a:r>
            <a:endParaRPr sz="2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Minimizes the cathodic reaction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(like oxygen reduction or hydrogen evolution) by forming a protective film or obstructing reactive sites.</a:t>
            </a:r>
            <a:endParaRPr sz="2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In acidic solutions,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the primary cathodic reaction involves the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 release of hydrogen gas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Corrosion can he reduced by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slowing the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diffusion of H ions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to the cathodic surface</a:t>
            </a:r>
            <a:endParaRPr sz="2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Examples: Amines, thiourea</a:t>
            </a:r>
            <a:endParaRPr sz="2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n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 neutral solutions,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the cathodic reaction typically involves the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adsorption of oxygen or the formation of hydroxyl ions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. Corrosion can be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controlled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by 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removing oxygen from the corrosive environment 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or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slowing its diffusion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to the cathodic surface. </a:t>
            </a:r>
            <a:endParaRPr lang="en-GB" sz="26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Oxygen removal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can be achieved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using reducing agents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such as Na2SO4, </a:t>
            </a:r>
            <a:endParaRPr lang="en-GB" sz="26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GB" sz="2600" b="1" i="0" u="none" strike="noStrike" cap="none" spc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(iii) Vapour phase inhibitors</a:t>
            </a:r>
            <a:endParaRPr sz="2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These are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organic inhibitors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that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easily vaporize and deposit a protective layer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on the metal surface. They are especially useful for preventing corrosion in enclosed spaces such as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storage containers, packaging materials, and sensitive equipment.</a:t>
            </a:r>
            <a:endParaRPr sz="2600" b="0" i="0" u="none" strike="noStrike" cap="none" spc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Example. Dicyclohexyl ammonium nitrite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1926168725" name=""/>
          <p:cNvGraphicFramePr>
            <a:graphicFrameLocks xmlns:a="http://schemas.openxmlformats.org/drawingml/2006/main"/>
          </p:cNvGraphicFramePr>
          <p:nvPr>
            <p:ph idx="1"/>
          </p:nvPr>
        </p:nvGraphicFramePr>
        <p:xfrm rot="0">
          <a:off x="874749" y="1903455"/>
          <a:ext cx="10515600" cy="1615305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3690000"/>
                <a:gridCol w="4050000"/>
                <a:gridCol w="2532674"/>
              </a:tblGrid>
              <a:tr h="656101">
                <a:tc>
                  <a:txBody>
                    <a:bodyPr/>
                    <a:p>
                      <a:pPr>
                        <a:defRPr/>
                      </a:pPr>
                      <a:r>
                        <a:rPr lang="en-GB" sz="1800" b="1" i="0" u="none" strike="noStrike" cap="none" spc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Metallic coating</a:t>
                      </a:r>
                      <a:endParaRPr lang="en-GB" sz="1800" b="1" i="0" u="none" strike="noStrike" cap="none" spc="0">
                        <a:solidFill>
                          <a:schemeClr val="lt1"/>
                        </a:solidFill>
                        <a:latin typeface="Arial"/>
                        <a:cs typeface="Arial"/>
                      </a:endParaRPr>
                    </a:p>
                    <a:p>
                      <a:pPr>
                        <a:defRPr/>
                      </a:pPr>
                      <a:endParaRPr lang="en-GB" sz="1800" b="1" i="0" u="none" strike="noStrike" cap="none" spc="0">
                        <a:solidFill>
                          <a:schemeClr val="lt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GB" sz="1800" b="1" i="0" u="none" strike="noStrike" cap="none" spc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Non-metallic coating</a:t>
                      </a:r>
                      <a:endParaRPr sz="1800" b="1" i="0" u="none" strike="noStrike" cap="none" spc="0">
                        <a:solidFill>
                          <a:schemeClr val="lt1"/>
                        </a:solidFill>
                        <a:latin typeface="Arial"/>
                        <a:cs typeface="Arial"/>
                      </a:endParaRPr>
                    </a:p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GB" sz="1800" b="1" i="0" u="none" strike="noStrike" cap="none" spc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Organic coating</a:t>
                      </a:r>
                      <a:endParaRPr sz="1800"/>
                    </a:p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</a:tr>
              <a:tr h="1218473">
                <a:tc>
                  <a:txBody>
                    <a:bodyPr/>
                    <a:p>
                      <a:pPr>
                        <a:defRPr/>
                      </a:pPr>
                      <a:r>
                        <a:rPr lang="en-GB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1.Hot dipping</a:t>
                      </a:r>
                      <a:endParaRPr lang="en-GB" sz="1800" b="0" i="0" u="none" strike="noStrike" cap="none" spc="0">
                        <a:solidFill>
                          <a:schemeClr val="dk1"/>
                        </a:solidFill>
                        <a:latin typeface="Arial"/>
                        <a:cs typeface="Arial"/>
                      </a:endParaRPr>
                    </a:p>
                    <a:p>
                      <a:pPr algn="ctr">
                        <a:defRPr/>
                      </a:pPr>
                      <a:r>
                        <a:rPr lang="en-GB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(a) Galvanizing  </a:t>
                      </a:r>
                      <a:r>
                        <a:rPr lang="en-GB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(b) Tinning</a:t>
                      </a:r>
                      <a:endParaRPr lang="en-GB" sz="1800" b="0" i="0" u="none" strike="noStrike" cap="none" spc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GB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1.Surface of chemical conversion coating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GB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(a) Chromate coating,</a:t>
                      </a:r>
                      <a:r>
                        <a:rPr lang="en-GB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(b) Phosphate coating,</a:t>
                      </a:r>
                      <a:r>
                        <a:rPr lang="en-GB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(c) Oxide coating</a:t>
                      </a:r>
                      <a:endParaRPr sz="1800" b="0" i="0" u="none" strike="noStrike" cap="none" spc="0">
                        <a:solidFill>
                          <a:schemeClr val="dk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1.Paints</a:t>
                      </a:r>
                      <a:endParaRPr/>
                    </a:p>
                  </a:txBody>
                  <a:tcPr/>
                </a:tc>
              </a:tr>
              <a:tr h="528979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2.</a:t>
                      </a:r>
                      <a:r>
                        <a:rPr lang="en-GB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Metal spraying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2.</a:t>
                      </a:r>
                      <a:r>
                        <a:rPr lang="en-GB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Anodizing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2.</a:t>
                      </a:r>
                      <a:r>
                        <a:rPr lang="en-GB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Vamishes</a:t>
                      </a:r>
                      <a:endParaRPr/>
                    </a:p>
                  </a:txBody>
                  <a:tcPr/>
                </a:tc>
              </a:tr>
              <a:tr h="528979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3.</a:t>
                      </a:r>
                      <a:r>
                        <a:rPr lang="en-GB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Cladding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*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3.</a:t>
                      </a:r>
                      <a:r>
                        <a:rPr lang="en-GB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Lacquers</a:t>
                      </a:r>
                      <a:endParaRPr/>
                    </a:p>
                  </a:txBody>
                  <a:tcPr/>
                </a:tc>
              </a:tr>
              <a:tr h="937287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4.</a:t>
                      </a:r>
                      <a:r>
                        <a:rPr lang="en-GB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Cementation</a:t>
                      </a:r>
                      <a:endParaRPr lang="en-GB" sz="1800" b="0" i="0" u="none" strike="noStrike" cap="none" spc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>
                        <a:defRPr/>
                      </a:pPr>
                      <a:r>
                        <a:rPr lang="en-GB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(a) Sherardizing ,</a:t>
                      </a:r>
                      <a:r>
                        <a:rPr lang="en-GB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(b) Chromizing</a:t>
                      </a:r>
                      <a:endParaRPr lang="en-GB" sz="1800" b="0" i="0" u="none" strike="noStrike" cap="none" spc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>
                        <a:defRPr/>
                      </a:pPr>
                      <a:r>
                        <a:rPr lang="en-GB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(c) Calonzing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*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4.</a:t>
                      </a:r>
                      <a:r>
                        <a:rPr lang="en-GB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Enamels</a:t>
                      </a:r>
                      <a:endParaRPr/>
                    </a:p>
                  </a:txBody>
                  <a:tcPr/>
                </a:tc>
              </a:tr>
              <a:tr h="656101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5.</a:t>
                      </a:r>
                      <a:r>
                        <a:rPr lang="en-GB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Electroplating or electrodeposition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*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*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47359748" name=""/>
          <p:cNvSpPr txBox="1"/>
          <p:nvPr/>
        </p:nvSpPr>
        <p:spPr bwMode="auto">
          <a:xfrm rot="0" flipH="0" flipV="0">
            <a:off x="1049373" y="714375"/>
            <a:ext cx="9667838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b="1">
                <a:solidFill>
                  <a:srgbClr val="00B050"/>
                </a:solidFill>
              </a:rPr>
              <a:t>Protective Coatings</a:t>
            </a:r>
            <a:endParaRPr b="1">
              <a:solidFill>
                <a:srgbClr val="00B050"/>
              </a:solidFill>
            </a:endParaRPr>
          </a:p>
          <a:p>
            <a:pPr algn="l">
              <a:defRPr/>
            </a:pPr>
            <a:r>
              <a:rPr/>
              <a:t>Protective coatings are </a:t>
            </a:r>
            <a:r>
              <a:rPr>
                <a:solidFill>
                  <a:srgbClr val="FF0000"/>
                </a:solidFill>
              </a:rPr>
              <a:t>materials applied to metal surfaces</a:t>
            </a:r>
            <a:r>
              <a:rPr/>
              <a:t> to help prevent or minimize </a:t>
            </a:r>
            <a:r>
              <a:rPr>
                <a:solidFill>
                  <a:srgbClr val="FF0000"/>
                </a:solidFill>
              </a:rPr>
              <a:t>corrosion </a:t>
            </a:r>
            <a:r>
              <a:rPr/>
              <a:t>by serving as a physical barrier between the metal and its environment. </a:t>
            </a:r>
            <a:endParaRPr/>
          </a:p>
          <a:p>
            <a:pPr algn="l">
              <a:defRPr/>
            </a:pPr>
            <a:r>
              <a:rPr b="1">
                <a:solidFill>
                  <a:srgbClr val="00B050"/>
                </a:solidFill>
              </a:rPr>
              <a:t>Types: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308413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365124"/>
            <a:ext cx="10515600" cy="619124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algn="ctr">
              <a:defRPr/>
            </a:pPr>
            <a:r>
              <a:rPr lang="en-GB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en-GB" sz="2800" b="1" i="0" u="none" strike="noStrike" cap="none" spc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Organic coatings</a:t>
            </a:r>
            <a:r>
              <a:rPr sz="2800" b="1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lang="en-GB" sz="2800" b="1" i="0" u="none" strike="noStrike" cap="none" spc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Paints</a:t>
            </a:r>
            <a:endParaRPr/>
          </a:p>
        </p:txBody>
      </p:sp>
      <p:sp>
        <p:nvSpPr>
          <p:cNvPr id="542300406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8" y="1063624"/>
            <a:ext cx="10515600" cy="538162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/>
          <a:p>
            <a:pPr marL="0" indent="0" algn="just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Paint is defined as the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mechanical dispersion of one or more fine pigments in a medium (thinner vehicle)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. </a:t>
            </a:r>
            <a:endParaRPr lang="en-GB" sz="28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When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paint is applied to a metal surface, the thinner evaporates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while the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vehicle undergoes slow oxidation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leading to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formation of a pigmented film</a:t>
            </a:r>
            <a:endParaRPr lang="en-GB" sz="2800" b="0" i="0" u="none" strike="noStrike" cap="none" spc="0">
              <a:solidFill>
                <a:srgbClr val="FF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GB" sz="2800" b="1" i="0" u="none" strike="noStrike" cap="none" spc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Requisites of a good paint</a:t>
            </a:r>
            <a:endParaRPr sz="2800" b="0" i="0" u="none" strike="noStrike" cap="none" spc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algn="just"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It should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adhere securely to the surface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resisting peeling or flaking</a:t>
            </a: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just"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It must be able to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endure weathering, corrosion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and wear for an extended period.</a:t>
            </a: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just"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It should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 not emit harmful fumes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or substances</a:t>
            </a: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just"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It must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dry within a reasonable time 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to enable quicker application and use</a:t>
            </a: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just"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It should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resist damage or peeling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when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exposed to moisture.</a:t>
            </a: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just"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It has to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withstand chemicals and pollutant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 without deteriorating</a:t>
            </a: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just"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It should offer even coverage with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fewer coats</a:t>
            </a: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2984670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8" y="63499"/>
            <a:ext cx="10515600" cy="751977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 marL="0" indent="0">
              <a:buFont typeface="Arial"/>
              <a:buNone/>
              <a:defRPr/>
            </a:pPr>
            <a:r>
              <a:rPr lang="en-GB" sz="2600" b="0" i="0" u="none" strike="noStrike" cap="none" spc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Constituents and functions</a:t>
            </a:r>
            <a:endParaRPr sz="2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The </a:t>
            </a:r>
            <a:r>
              <a:rPr lang="en-GB" sz="2600" b="1" i="0" u="none" strike="noStrike" cap="none" spc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important constituents of paints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comprise of the following</a:t>
            </a:r>
            <a:endParaRPr sz="2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1) Pigment (base)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(ii) Vehicle (drying oil)</a:t>
            </a:r>
            <a:r>
              <a:rPr sz="2600" b="0" i="0" u="none" strike="noStrike" cap="none" spc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(ii) Thinner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(iv) Driers</a:t>
            </a:r>
            <a:r>
              <a:rPr sz="2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,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(v) Fillers</a:t>
            </a:r>
            <a:endParaRPr sz="2600" b="0" i="0" u="none" strike="noStrike" cap="none" spc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(vi) Plasticisers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(vii) Antiskinning agents</a:t>
            </a:r>
            <a:endParaRPr sz="2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600" b="1" i="0" u="none" strike="noStrike" cap="none" spc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(1) Pigment</a:t>
            </a:r>
            <a:endParaRPr sz="2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 pigment is a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finely powdered, insoluble solid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that imparts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colour, opacity,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and protective properties to paint. It is uniformly distributed within the binder (vehicle).</a:t>
            </a:r>
            <a:endParaRPr sz="2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600" b="0" i="0" u="none" strike="noStrike" cap="none" spc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Functions</a:t>
            </a:r>
            <a:endParaRPr sz="2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It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imparts strength 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to the paint</a:t>
            </a:r>
            <a:endParaRPr sz="2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Protects the paint film by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reflecting ultraviolet (UV) ligh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</a:t>
            </a:r>
            <a:endParaRPr sz="2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Enhances the paint film's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resistance to abrasion</a:t>
            </a:r>
            <a:endParaRPr sz="2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600" b="1" i="0" u="none" strike="noStrike" cap="none" spc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Examples:</a:t>
            </a:r>
            <a:r>
              <a:rPr lang="en-GB" sz="2600" b="0" i="0" u="none" strike="noStrike" cap="none" spc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lang="en-GB" sz="26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buFont typeface="Wingdings"/>
              <a:buChar char="v"/>
              <a:defRPr/>
            </a:pP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White pigment-ZnO</a:t>
            </a:r>
            <a:endParaRPr sz="2600" b="0" i="0" u="none" strike="noStrike" cap="none" spc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>
              <a:buFont typeface="Wingdings"/>
              <a:buChar char="v"/>
              <a:defRPr/>
            </a:pP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Blue pigment-Prussian blue</a:t>
            </a:r>
            <a:endParaRPr sz="2600" b="0" i="0" u="none" strike="noStrike" cap="none" spc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>
              <a:buFont typeface="Wingdings"/>
              <a:buChar char="v"/>
              <a:defRPr/>
            </a:pP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Red pigment-Carmine</a:t>
            </a:r>
            <a:endParaRPr sz="2600" b="0" i="0" u="none" strike="noStrike" cap="none" spc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>
              <a:buFont typeface="Wingdings"/>
              <a:buChar char="v"/>
              <a:defRPr/>
            </a:pP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Yellow pigment-Lead chromate</a:t>
            </a:r>
            <a:endParaRPr sz="260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0143726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8" y="237640"/>
            <a:ext cx="10515600" cy="593932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/>
          <a:p>
            <a:pPr marL="0" indent="0">
              <a:buFont typeface="Arial"/>
              <a:buNone/>
              <a:defRPr/>
            </a:pPr>
            <a:r>
              <a:rPr lang="en-GB" sz="2800" b="1" i="0" u="none" strike="noStrike" cap="none" spc="0">
                <a:solidFill>
                  <a:srgbClr val="00B050"/>
                </a:solidFill>
                <a:latin typeface="Arial"/>
                <a:ea typeface="Arial"/>
                <a:cs typeface="Arial"/>
              </a:rPr>
              <a:t>(2) Vehicle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The vehicle is a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liquid, film-forming component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that keeps all the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paint ingredients 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suspended in a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 uniform liquid mixture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2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600" b="0" i="0" u="none" strike="noStrike" cap="none" spc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Functions</a:t>
            </a:r>
            <a:endParaRPr sz="2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It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binds the pigment particles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and enables the paint to s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tick effectively to the surface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2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Provides the film with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water resistance, durability, and toug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h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ness</a:t>
            </a:r>
            <a:endParaRPr sz="2600">
              <a:solidFill>
                <a:srgbClr val="FF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100" b="0" i="0" u="none" strike="noStrike" cap="none" spc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Examples</a:t>
            </a:r>
            <a:r>
              <a:rPr lang="en-GB" sz="21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. Linseed oil, castor oil</a:t>
            </a:r>
            <a:endParaRPr sz="2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600" b="1" i="0" u="none" strike="noStrike" cap="none" spc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3) Thinner</a:t>
            </a:r>
            <a:endParaRPr sz="2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Thinners are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volatile substanc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es that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evaporate quickly after paint application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. They are added to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reduce the paint's viscosity, making it easier to apply to metal surfaces.</a:t>
            </a:r>
            <a:endParaRPr sz="2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600" b="0" i="0" u="none" strike="noStrike" cap="none" spc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Functions:</a:t>
            </a:r>
            <a:endParaRPr sz="2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They </a:t>
            </a:r>
            <a:r>
              <a:rPr lang="en-GB" sz="2600" b="0" i="0" u="none" strike="noStrike" cap="none" spc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dissolve the vehicle and the additives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within it</a:t>
            </a:r>
            <a:endParaRPr sz="2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Enhance the vehicle's ability to</a:t>
            </a:r>
            <a:r>
              <a:rPr lang="en-GB" sz="2600" b="0" i="0" u="none" strike="noStrike" cap="none" spc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 penetrate surfaces</a:t>
            </a:r>
            <a:endParaRPr sz="2600" b="0" i="0" u="none" strike="noStrike" cap="none" spc="0">
              <a:solidFill>
                <a:srgbClr val="00B0F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It e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vaporates after being applied, leaving a solid film behind</a:t>
            </a:r>
            <a:endParaRPr sz="2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600" b="0" i="0" u="none" strike="noStrike" cap="none" spc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Examples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Turpentine, xylol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177924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8" y="190499"/>
            <a:ext cx="10515600" cy="598646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0000" lnSpcReduction="4000"/>
          </a:bodyPr>
          <a:lstStyle/>
          <a:p>
            <a:pPr marL="0" indent="0">
              <a:buFont typeface="Arial"/>
              <a:buNone/>
              <a:defRPr/>
            </a:pPr>
            <a:r>
              <a:rPr lang="en-GB" sz="2800" b="1" i="0" u="none" strike="noStrike" cap="none" spc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(IV) Driers</a:t>
            </a: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These substances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speed up the drying process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by acting as oxygen carrier catalysts.</a:t>
            </a: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Functions</a:t>
            </a: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Accelerates the oxidation and drying of the binder 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(vehicle), enabling the paint to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dry faster.</a:t>
            </a: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Enhances the drying properties of the oil film</a:t>
            </a: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Examples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Naphthalenes, borates</a:t>
            </a: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800" b="1" i="0" u="none" strike="noStrike" cap="none" spc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(V) Fillers</a:t>
            </a: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These are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non-reactive substances 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added to enhance the characteristics of the paint.</a:t>
            </a: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Functions</a:t>
            </a: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They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fill the gaps or spaces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within the paint film.</a:t>
            </a: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Help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lower the  cos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 of the paint.</a:t>
            </a: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Minimize cracking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in the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dried paint film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Examples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Gypsum, clay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040236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8" y="476249"/>
            <a:ext cx="10515600" cy="570071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lang="en-GB" sz="2600" b="0" i="0" u="none" strike="noStrike" cap="none" spc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(vi) Plasticisers</a:t>
            </a:r>
            <a:endParaRPr sz="2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These additives are incorporated into the paint to enhance the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 film's elasticity and reduce cracking</a:t>
            </a:r>
            <a:endParaRPr sz="2600" b="0" i="0" u="none" strike="noStrike" cap="none" spc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600" b="0" i="0" u="none" strike="noStrike" cap="none" spc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Functions</a:t>
            </a:r>
            <a:endParaRPr sz="2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Reduces cracking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of the paint</a:t>
            </a:r>
            <a:endParaRPr sz="2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Increases elasticit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y of the film</a:t>
            </a:r>
            <a:endParaRPr sz="2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600" b="0" i="0" u="none" strike="noStrike" cap="none" spc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Examples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Triphenyl phosphate, Tricresyl phosphate</a:t>
            </a:r>
            <a:endParaRPr sz="2600" b="0" i="0" u="none" strike="noStrike" cap="none" spc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(vii) Antiskinning agents</a:t>
            </a:r>
            <a:endParaRPr sz="2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These substances are occasionally added to paint to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 prevent the formation of gels and skins 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in the finished product</a:t>
            </a:r>
            <a:endParaRPr sz="2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600" b="0" i="0" u="none" strike="noStrike" cap="none" spc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Examples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Methanol, ethanol, butanol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1708431361" name=""/>
          <p:cNvGraphicFramePr>
            <a:graphicFrameLocks xmlns:a="http://schemas.openxmlformats.org/drawingml/2006/main"/>
          </p:cNvGraphicFramePr>
          <p:nvPr>
            <p:ph idx="1"/>
          </p:nvPr>
        </p:nvGraphicFramePr>
        <p:xfrm rot="0">
          <a:off x="838198" y="484526"/>
          <a:ext cx="10515600" cy="2153741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1513605"/>
                <a:gridCol w="2938177"/>
                <a:gridCol w="3350411"/>
                <a:gridCol w="2600731"/>
              </a:tblGrid>
              <a:tr h="259780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GB" sz="1800" b="0" i="0" u="none" strike="noStrike" cap="none" spc="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Functions</a:t>
                      </a:r>
                      <a:r>
                        <a:rPr lang="en-GB" sz="1800" b="1" i="0" u="none" strike="noStrike" cap="none" spc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Functions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GB" sz="1800" b="1" i="0" u="none" strike="noStrike" cap="none" spc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Examples:</a:t>
                      </a:r>
                      <a:endParaRPr/>
                    </a:p>
                  </a:txBody>
                  <a:tcPr/>
                </a:tc>
              </a:tr>
              <a:tr h="1424709">
                <a:tc>
                  <a:txBody>
                    <a:bodyPr/>
                    <a:p>
                      <a:pPr marL="0" indent="0">
                        <a:buFont typeface="Arial"/>
                        <a:buNone/>
                        <a:defRPr/>
                      </a:pPr>
                      <a:endParaRPr sz="2200" b="0" i="0" u="none" strike="noStrike" cap="none" spc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>
                        <a:defRPr/>
                      </a:pPr>
                      <a:r>
                        <a:rPr lang="en-GB" sz="2200" b="0" i="0" u="none" strike="noStrike" cap="none" spc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1)pigment</a:t>
                      </a:r>
                      <a:endParaRPr sz="2200" b="0" i="0" u="none" strike="noStrike" cap="none" spc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0" indent="0">
                        <a:buFont typeface="Arial"/>
                        <a:buNone/>
                        <a:defRPr/>
                      </a:pPr>
                      <a:r>
                        <a:rPr lang="en-GB" sz="2200" b="0" i="0" u="none" strike="noStrike" cap="none" spc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sz="2200" b="0" i="0" u="none" strike="noStrike" cap="none" spc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indent="0">
                        <a:buFont typeface="Arial"/>
                        <a:buNone/>
                        <a:defRPr/>
                      </a:pPr>
                      <a:r>
                        <a:rPr lang="en-GB" sz="1800" b="0" i="0" u="none" strike="noStrike" cap="none" spc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 pigment is a </a:t>
                      </a:r>
                      <a:r>
                        <a:rPr lang="en-GB" sz="1800" b="0" i="0" u="none" strike="noStrike" cap="none" spc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finely powdered, insoluble solid</a:t>
                      </a:r>
                      <a:r>
                        <a:rPr lang="en-GB" sz="1800" b="0" i="0" u="none" strike="noStrike" cap="none" spc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that imparts </a:t>
                      </a:r>
                      <a:r>
                        <a:rPr lang="en-GB" sz="1800" b="0" i="0" u="none" strike="noStrike" cap="none" spc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colour, opacity,</a:t>
                      </a:r>
                      <a:r>
                        <a:rPr lang="en-GB" sz="1800" b="0" i="0" u="none" strike="noStrike" cap="none" spc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and protective properties to paint. It is uniformly distributed within the binder (vehicle).</a:t>
                      </a:r>
                      <a:endParaRPr sz="1800" b="0" i="0" u="none" strike="noStrike" cap="none" spc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283879" indent="-283879">
                        <a:buFont typeface="Arial"/>
                        <a:buChar char="•"/>
                        <a:defRPr/>
                      </a:pPr>
                      <a:r>
                        <a:rPr lang="en-GB" sz="1800" b="0" i="0" u="none" strike="noStrike" cap="none" spc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Enhances the paint film's </a:t>
                      </a:r>
                      <a:r>
                        <a:rPr lang="en-GB" sz="1800" b="0" i="0" u="none" strike="noStrike" cap="none" spc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resistance to abrasion</a:t>
                      </a:r>
                      <a:endParaRPr sz="1800" b="0" i="0" u="none" strike="noStrike" cap="none" spc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283879" indent="-283879">
                        <a:buFont typeface="Arial"/>
                        <a:buChar char="•"/>
                        <a:defRPr/>
                      </a:pPr>
                      <a:r>
                        <a:rPr lang="en-GB" sz="1800" b="0" i="0" u="none" strike="noStrike" cap="none" spc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It </a:t>
                      </a:r>
                      <a:r>
                        <a:rPr lang="en-GB" sz="1800" b="0" i="0" u="none" strike="noStrike" cap="none" spc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imparts strength </a:t>
                      </a:r>
                      <a:r>
                        <a:rPr lang="en-GB" sz="1800" b="0" i="0" u="none" strike="noStrike" cap="none" spc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to the paint</a:t>
                      </a:r>
                      <a:endParaRPr sz="1800" b="0" i="0" u="none" strike="noStrike" cap="none" spc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283879" indent="-283879">
                        <a:buFont typeface="Arial"/>
                        <a:buChar char="•"/>
                        <a:defRPr/>
                      </a:pPr>
                      <a:r>
                        <a:rPr lang="en-GB" sz="1800" b="0" i="0" u="none" strike="noStrike" cap="none" spc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Protects the paint film by </a:t>
                      </a:r>
                      <a:r>
                        <a:rPr lang="en-GB" sz="1800" b="0" i="0" u="none" strike="noStrike" cap="none" spc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reflecting ultraviolet (UV) ligh</a:t>
                      </a:r>
                      <a:r>
                        <a:rPr lang="en-GB" sz="1800" b="0" i="0" u="none" strike="noStrike" cap="none" spc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Font typeface="Wingdings"/>
                        <a:buChar char="v"/>
                        <a:defRPr/>
                      </a:pPr>
                      <a:r>
                        <a:rPr lang="en-GB" sz="1800" b="0" i="0" u="none" strike="noStrike" cap="none" spc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White pigment-ZnO</a:t>
                      </a:r>
                      <a:endParaRPr sz="1800" b="0" i="0" u="none" strike="noStrike" cap="none" spc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>
                        <a:buFont typeface="Wingdings"/>
                        <a:buChar char="v"/>
                        <a:defRPr/>
                      </a:pPr>
                      <a:r>
                        <a:rPr lang="en-GB" sz="1800" b="0" i="0" u="none" strike="noStrike" cap="none" spc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Blue pigment-Prussian blue</a:t>
                      </a:r>
                      <a:endParaRPr sz="1800" b="0" i="0" u="none" strike="noStrike" cap="none" spc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>
                        <a:buFont typeface="Wingdings"/>
                        <a:buChar char="v"/>
                        <a:defRPr/>
                      </a:pPr>
                      <a:r>
                        <a:rPr lang="en-GB" sz="1800" b="0" i="0" u="none" strike="noStrike" cap="none" spc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Red pigment-Carmine</a:t>
                      </a:r>
                      <a:endParaRPr sz="1800" b="0" i="0" u="none" strike="noStrike" cap="none" spc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>
                        <a:defRPr/>
                      </a:pPr>
                      <a:r>
                        <a:rPr lang="en-GB" sz="1800" b="0" i="0" u="none" strike="noStrike" cap="none" spc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Yellow pigment-Lead chromate</a:t>
                      </a:r>
                      <a:endParaRPr sz="1800"/>
                    </a:p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</a:tr>
              <a:tr h="1247535">
                <a:tc>
                  <a:txBody>
                    <a:bodyPr/>
                    <a:p>
                      <a:pPr>
                        <a:defRPr/>
                      </a:pPr>
                      <a:r>
                        <a:rPr lang="en-GB" sz="2200" b="0" i="0" u="none" strike="noStrike" cap="none" spc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(2) Vehicle</a:t>
                      </a:r>
                      <a:endParaRPr sz="2200" b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indent="0">
                        <a:buFont typeface="Arial"/>
                        <a:buNone/>
                        <a:defRPr/>
                      </a:pPr>
                      <a:r>
                        <a:rPr lang="en-GB" sz="1800" b="0" i="0" u="none" strike="noStrike" cap="none" spc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The vehicle is a </a:t>
                      </a:r>
                      <a:r>
                        <a:rPr lang="en-GB" sz="1800" b="0" i="0" u="none" strike="noStrike" cap="none" spc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liquid, film-forming component</a:t>
                      </a:r>
                      <a:r>
                        <a:rPr lang="en-GB" sz="1800" b="0" i="0" u="none" strike="noStrike" cap="none" spc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that keeps all the </a:t>
                      </a:r>
                      <a:r>
                        <a:rPr lang="en-GB" sz="1800" b="0" i="0" u="none" strike="noStrike" cap="none" spc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paint ingredients </a:t>
                      </a:r>
                      <a:r>
                        <a:rPr lang="en-GB" sz="1800" b="0" i="0" u="none" strike="noStrike" cap="none" spc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suspended in a</a:t>
                      </a:r>
                      <a:r>
                        <a:rPr lang="en-GB" sz="1800" b="0" i="0" u="none" strike="noStrike" cap="none" spc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uniform liquid mixture</a:t>
                      </a:r>
                      <a:r>
                        <a:rPr lang="en-GB" sz="1800" b="0" i="0" u="none" strike="noStrike" cap="none" spc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endParaRPr sz="1800" b="0" i="0" u="none" strike="noStrike" cap="none" spc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0" indent="0">
                        <a:buFont typeface="Arial"/>
                        <a:buNone/>
                        <a:defRPr/>
                      </a:pPr>
                      <a:endParaRPr sz="1800" b="0" i="0" u="none" strike="noStrike" cap="none" spc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283879" indent="-283879">
                        <a:buFont typeface="Arial"/>
                        <a:buChar char="•"/>
                        <a:defRPr/>
                      </a:pPr>
                      <a:r>
                        <a:rPr lang="en-GB" sz="1800" b="0" i="0" u="none" strike="noStrike" cap="none" spc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It  </a:t>
                      </a:r>
                      <a:r>
                        <a:rPr lang="en-GB" sz="1800" b="0" i="0" u="none" strike="noStrike" cap="none" spc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binds the pigment particles</a:t>
                      </a:r>
                      <a:r>
                        <a:rPr lang="en-GB" sz="1800" b="0" i="0" u="none" strike="noStrike" cap="none" spc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and enables the paint to s</a:t>
                      </a:r>
                      <a:r>
                        <a:rPr lang="en-GB" sz="1800" b="0" i="0" u="none" strike="noStrike" cap="none" spc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tick effectively to the surface</a:t>
                      </a:r>
                      <a:r>
                        <a:rPr lang="en-GB" sz="1800" b="0" i="0" u="none" strike="noStrike" cap="none" spc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endParaRPr sz="1800" b="0" i="0" u="none" strike="noStrike" cap="none" spc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283879" indent="-283879">
                        <a:buFont typeface="Arial"/>
                        <a:buChar char="•"/>
                        <a:defRPr/>
                      </a:pPr>
                      <a:r>
                        <a:rPr lang="en-GB" sz="1800" b="0" i="0" u="none" strike="noStrike" cap="none" spc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Provides the film with </a:t>
                      </a:r>
                      <a:r>
                        <a:rPr lang="en-GB" sz="1800" b="0" i="0" u="none" strike="noStrike" cap="none" spc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water resistance, durability, and toug</a:t>
                      </a:r>
                      <a:r>
                        <a:rPr lang="en-GB" sz="1800" b="0" i="0" u="none" strike="noStrike" cap="none" spc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</a:t>
                      </a:r>
                      <a:r>
                        <a:rPr lang="en-GB" sz="1800" b="0" i="0" u="none" strike="noStrike" cap="none" spc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ness</a:t>
                      </a:r>
                      <a:endParaRPr sz="180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GB" sz="1800" b="0" i="0" u="none" strike="noStrike" cap="none" spc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Linseed oil, castor oil</a:t>
                      </a:r>
                      <a:endParaRPr/>
                    </a:p>
                  </a:txBody>
                  <a:tcPr/>
                </a:tc>
              </a:tr>
              <a:tr h="1618988">
                <a:tc>
                  <a:txBody>
                    <a:bodyPr/>
                    <a:p>
                      <a:pPr>
                        <a:defRPr/>
                      </a:pPr>
                      <a:r>
                        <a:rPr lang="en-GB" sz="2200" b="0" i="0" u="none" strike="noStrike" cap="none" spc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3) Thinner</a:t>
                      </a:r>
                      <a:endParaRPr sz="2200" b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indent="0">
                        <a:buFont typeface="Arial"/>
                        <a:buNone/>
                        <a:defRPr/>
                      </a:pPr>
                      <a:r>
                        <a:rPr lang="en-GB" sz="1800" b="0" i="0" u="none" strike="noStrike" cap="none" spc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Thinners are </a:t>
                      </a:r>
                      <a:r>
                        <a:rPr lang="en-GB" sz="1800" b="0" i="0" u="none" strike="noStrike" cap="none" spc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volatile substanc</a:t>
                      </a:r>
                      <a:r>
                        <a:rPr lang="en-GB" sz="1800" b="0" i="0" u="none" strike="noStrike" cap="none" spc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es that </a:t>
                      </a:r>
                      <a:r>
                        <a:rPr lang="en-GB" sz="1800" b="0" i="0" u="none" strike="noStrike" cap="none" spc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evaporate quickly after paint application</a:t>
                      </a:r>
                      <a:r>
                        <a:rPr lang="en-GB" sz="1800" b="0" i="0" u="none" strike="noStrike" cap="none" spc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 They are added to </a:t>
                      </a:r>
                      <a:r>
                        <a:rPr lang="en-GB" sz="1800" b="0" i="0" u="none" strike="noStrike" cap="none" spc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reduce the paint's viscosity, making it easier to apply to metal surfaces.</a:t>
                      </a:r>
                      <a:endParaRPr sz="1800" b="0" i="0" u="none" strike="noStrike" cap="none" spc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0" indent="0">
                        <a:buFont typeface="Arial"/>
                        <a:buNone/>
                        <a:defRPr/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283879" indent="-283879">
                        <a:buFont typeface="Arial"/>
                        <a:buChar char="•"/>
                        <a:defRPr/>
                      </a:pPr>
                      <a:r>
                        <a:rPr lang="en-GB" sz="1800" b="0" i="0" u="none" strike="noStrike" cap="none" spc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They </a:t>
                      </a:r>
                      <a:r>
                        <a:rPr lang="en-GB" sz="1800" b="0" i="0" u="none" strike="noStrike" cap="none" spc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dissolve the vehicle and the additives</a:t>
                      </a:r>
                      <a:r>
                        <a:rPr lang="en-GB" sz="1800" b="0" i="0" u="none" strike="noStrike" cap="none" spc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within it</a:t>
                      </a:r>
                      <a:endParaRPr sz="1800" b="0" i="0" u="none" strike="noStrike" cap="none" spc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283879" indent="-283879">
                        <a:buFont typeface="Arial"/>
                        <a:buChar char="•"/>
                        <a:defRPr/>
                      </a:pPr>
                      <a:r>
                        <a:rPr lang="en-GB" sz="1800" b="0" i="0" u="none" strike="noStrike" cap="none" spc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Enhance the vehicle's ability to</a:t>
                      </a:r>
                      <a:r>
                        <a:rPr lang="en-GB" sz="1800" b="0" i="0" u="none" strike="noStrike" cap="none" spc="0">
                          <a:solidFill>
                            <a:srgbClr val="00B0F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penetrate surfaces</a:t>
                      </a:r>
                      <a:endParaRPr sz="1800" b="0" i="0" u="none" strike="noStrike" cap="none" spc="0">
                        <a:solidFill>
                          <a:srgbClr val="00B0F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283879" indent="-283879">
                        <a:buFont typeface="Arial"/>
                        <a:buChar char="•"/>
                        <a:defRPr/>
                      </a:pPr>
                      <a:r>
                        <a:rPr lang="en-GB" sz="1800" b="0" i="0" u="none" strike="noStrike" cap="none" spc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It e</a:t>
                      </a:r>
                      <a:r>
                        <a:rPr lang="en-GB" sz="1800" b="0" i="0" u="none" strike="noStrike" cap="none" spc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vaporates after being applied, leaving a solid film behind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GB" sz="2000" b="0" i="0" u="none" strike="noStrike" cap="none" spc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Turpentine, xylol</a:t>
                      </a:r>
                      <a:endParaRPr lang="en-GB" sz="1800" b="0" i="0" u="none" strike="noStrike" cap="none" spc="0">
                        <a:solidFill>
                          <a:schemeClr val="dk1"/>
                        </a:solidFill>
                        <a:latin typeface="Arial"/>
                        <a:cs typeface="Arial"/>
                      </a:endParaRPr>
                    </a:p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1423613600" name=""/>
          <p:cNvGraphicFramePr>
            <a:graphicFrameLocks xmlns:a="http://schemas.openxmlformats.org/drawingml/2006/main"/>
          </p:cNvGraphicFramePr>
          <p:nvPr>
            <p:ph idx="1"/>
          </p:nvPr>
        </p:nvGraphicFramePr>
        <p:xfrm rot="0">
          <a:off x="838198" y="301624"/>
          <a:ext cx="10515600" cy="107687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1890000"/>
                <a:gridCol w="3367800"/>
                <a:gridCol w="2628900"/>
                <a:gridCol w="2628900"/>
              </a:tblGrid>
              <a:tr h="1440000">
                <a:tc>
                  <a:txBody>
                    <a:bodyPr/>
                    <a:p>
                      <a:pPr>
                        <a:defRPr/>
                      </a:pPr>
                      <a:r>
                        <a:rPr lang="en-GB" sz="2200" b="0" i="0" u="none" strike="noStrike" cap="none" spc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4) Driers</a:t>
                      </a:r>
                      <a:endParaRPr sz="2200" b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indent="0">
                        <a:buFont typeface="Arial"/>
                        <a:buNone/>
                        <a:defRPr/>
                      </a:pPr>
                      <a:r>
                        <a:rPr lang="en-GB" sz="1800" b="0" i="0" u="none" strike="noStrike" cap="none" spc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These substances </a:t>
                      </a:r>
                      <a:r>
                        <a:rPr lang="en-GB" sz="1800" b="0" i="0" u="none" strike="noStrike" cap="none" spc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speed up the drying process</a:t>
                      </a:r>
                      <a:r>
                        <a:rPr lang="en-GB" sz="1800" b="0" i="0" u="none" strike="noStrike" cap="none" spc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by acting as oxygen carrier catalysts.</a:t>
                      </a:r>
                      <a:endParaRPr sz="1800" b="0" i="0" u="none" strike="noStrike" cap="none" spc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283879" indent="-283879">
                        <a:buFont typeface="Arial"/>
                        <a:buChar char="•"/>
                        <a:defRPr/>
                      </a:pPr>
                      <a:r>
                        <a:rPr lang="en-GB" sz="1800" b="0" i="0" u="none" strike="noStrike" cap="none" spc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Accelerates the oxidation and drying of the binder </a:t>
                      </a:r>
                      <a:r>
                        <a:rPr lang="en-GB" sz="1800" b="0" i="0" u="none" strike="noStrike" cap="none" spc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(vehicle), enabling the paint to </a:t>
                      </a:r>
                      <a:r>
                        <a:rPr lang="en-GB" sz="1800" b="0" i="0" u="none" strike="noStrike" cap="none" spc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dry faster.</a:t>
                      </a:r>
                      <a:endParaRPr sz="1800" b="0" i="0" u="none" strike="noStrike" cap="none" spc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GB" sz="1800" b="0" i="0" u="none" strike="noStrike" cap="none" spc="0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Examples </a:t>
                      </a:r>
                      <a:r>
                        <a:rPr lang="en-GB" sz="1800" b="0" i="0" u="none" strike="noStrike" cap="none" spc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Naphthalenes, borates</a:t>
                      </a:r>
                      <a:endParaRPr/>
                    </a:p>
                  </a:txBody>
                  <a:tcPr/>
                </a:tc>
              </a:tr>
              <a:tr h="2004359">
                <a:tc>
                  <a:txBody>
                    <a:bodyPr/>
                    <a:p>
                      <a:pPr>
                        <a:defRPr/>
                      </a:pPr>
                      <a:r>
                        <a:rPr lang="en-GB" sz="2200" b="0" i="0" u="none" strike="noStrike" cap="none" spc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(5) Fillers</a:t>
                      </a:r>
                      <a:endParaRPr sz="2200" b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indent="0">
                        <a:buFont typeface="Arial"/>
                        <a:buNone/>
                        <a:defRPr/>
                      </a:pPr>
                      <a:r>
                        <a:rPr lang="en-GB" sz="1800" b="0" i="0" u="none" strike="noStrike" cap="none" spc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These are </a:t>
                      </a:r>
                      <a:r>
                        <a:rPr lang="en-GB" sz="1800" b="0" i="0" u="none" strike="noStrike" cap="none" spc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non-reactive substances </a:t>
                      </a:r>
                      <a:r>
                        <a:rPr lang="en-GB" sz="1800" b="0" i="0" u="none" strike="noStrike" cap="none" spc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added to enhance the characteristics of the paint.</a:t>
                      </a:r>
                      <a:endParaRPr sz="1800" b="0" i="0" u="none" strike="noStrike" cap="none" spc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283879" indent="-283879">
                        <a:buFont typeface="Arial"/>
                        <a:buChar char="•"/>
                        <a:defRPr/>
                      </a:pPr>
                      <a:r>
                        <a:rPr lang="en-GB" sz="1800" b="0" i="0" u="none" strike="noStrike" cap="none" spc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They </a:t>
                      </a:r>
                      <a:r>
                        <a:rPr lang="en-GB" sz="1800" b="0" i="0" u="none" strike="noStrike" cap="none" spc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fill the gaps or spaces</a:t>
                      </a:r>
                      <a:r>
                        <a:rPr lang="en-GB" sz="1800" b="0" i="0" u="none" strike="noStrike" cap="none" spc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within the paint film.</a:t>
                      </a:r>
                      <a:endParaRPr sz="1800" b="0" i="0" u="none" strike="noStrike" cap="none" spc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283879" indent="-283879">
                        <a:buFont typeface="Arial"/>
                        <a:buChar char="•"/>
                        <a:defRPr/>
                      </a:pPr>
                      <a:r>
                        <a:rPr lang="en-GB" sz="1800" b="0" i="0" u="none" strike="noStrike" cap="none" spc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Help </a:t>
                      </a:r>
                      <a:r>
                        <a:rPr lang="en-GB" sz="1800" b="0" i="0" u="none" strike="noStrike" cap="none" spc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lower the  cos</a:t>
                      </a:r>
                      <a:r>
                        <a:rPr lang="en-GB" sz="1800" b="0" i="0" u="none" strike="noStrike" cap="none" spc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 of the paint.</a:t>
                      </a:r>
                      <a:endParaRPr sz="1800" b="0" i="0" u="none" strike="noStrike" cap="none" spc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283879" indent="-283879">
                        <a:buFont typeface="Arial"/>
                        <a:buChar char="•"/>
                        <a:defRPr/>
                      </a:pPr>
                      <a:r>
                        <a:rPr lang="en-GB" sz="1800" b="0" i="0" u="none" strike="noStrike" cap="none" spc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Minimize cracking</a:t>
                      </a:r>
                      <a:r>
                        <a:rPr lang="en-GB" sz="1800" b="0" i="0" u="none" strike="noStrike" cap="none" spc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in the </a:t>
                      </a:r>
                      <a:r>
                        <a:rPr lang="en-GB" sz="1800" b="0" i="0" u="none" strike="noStrike" cap="none" spc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dried paint film</a:t>
                      </a:r>
                      <a:r>
                        <a:rPr lang="en-GB" sz="1800" b="0" i="0" u="none" strike="noStrike" cap="none" spc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indent="0">
                        <a:buFont typeface="Arial"/>
                        <a:buNone/>
                        <a:defRPr/>
                      </a:pPr>
                      <a:r>
                        <a:rPr lang="en-GB" sz="1800" b="0" i="0" u="none" strike="noStrike" cap="none" spc="0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Examples</a:t>
                      </a:r>
                      <a:r>
                        <a:rPr lang="en-GB" sz="1800" b="0" i="0" u="none" strike="noStrike" cap="none" spc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 </a:t>
                      </a:r>
                      <a:r>
                        <a:rPr lang="en-GB" sz="1800" b="0" i="0" u="none" strike="noStrike" cap="none" spc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Gypsum, clay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</a:tr>
              <a:tr h="1342679">
                <a:tc>
                  <a:txBody>
                    <a:bodyPr/>
                    <a:p>
                      <a:pPr marL="0" indent="0">
                        <a:buFont typeface="Arial"/>
                        <a:buNone/>
                        <a:defRPr/>
                      </a:pPr>
                      <a:r>
                        <a:rPr lang="en-GB" sz="2200" b="0" i="0" u="none" strike="noStrike" cap="none" spc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6) Plasticisers</a:t>
                      </a:r>
                      <a:endParaRPr sz="2200" b="0" i="0" u="none" strike="noStrike" cap="none" spc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0" indent="0">
                        <a:buFont typeface="Arial"/>
                        <a:buNone/>
                        <a:defRPr/>
                      </a:pPr>
                      <a:endParaRPr sz="2200" b="0" i="0" u="none" strike="noStrike" cap="none" spc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indent="0">
                        <a:buFont typeface="Arial"/>
                        <a:buNone/>
                        <a:defRPr/>
                      </a:pPr>
                      <a:r>
                        <a:rPr lang="en-GB" sz="1800" b="0" i="0" u="none" strike="noStrike" cap="none" spc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These additives are incorporated into the paint to enhance the</a:t>
                      </a:r>
                      <a:r>
                        <a:rPr lang="en-GB" sz="1800" b="0" i="0" u="none" strike="noStrike" cap="none" spc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film's elasticity and reduce cracking</a:t>
                      </a:r>
                      <a:endParaRPr sz="1800" b="0" i="0" u="none" strike="noStrike" cap="none" spc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283879" indent="-283879">
                        <a:buFont typeface="Arial"/>
                        <a:buChar char="•"/>
                        <a:defRPr/>
                      </a:pPr>
                      <a:r>
                        <a:rPr lang="en-GB" sz="1800" b="0" i="0" u="none" strike="noStrike" cap="none" spc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Reduces cracking</a:t>
                      </a:r>
                      <a:r>
                        <a:rPr lang="en-GB" sz="1800" b="0" i="0" u="none" strike="noStrike" cap="none" spc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of the paint</a:t>
                      </a:r>
                      <a:endParaRPr sz="1800" b="0" i="0" u="none" strike="noStrike" cap="none" spc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283879" indent="-283879">
                        <a:buFont typeface="Arial"/>
                        <a:buChar char="•"/>
                        <a:defRPr/>
                      </a:pPr>
                      <a:r>
                        <a:rPr lang="en-GB" sz="1800" b="0" i="0" u="none" strike="noStrike" cap="none" spc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Increases elasticit</a:t>
                      </a:r>
                      <a:r>
                        <a:rPr lang="en-GB" sz="1800" b="0" i="0" u="none" strike="noStrike" cap="none" spc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y of the film</a:t>
                      </a:r>
                      <a:endParaRPr sz="1800" b="0" i="0" u="none" strike="noStrike" cap="none" spc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GB" sz="1800" b="0" i="0" u="none" strike="noStrike" cap="none" spc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Triphenyl phosphate, ricresyl phosphate</a:t>
                      </a:r>
                      <a:endParaRPr/>
                    </a:p>
                  </a:txBody>
                  <a:tcPr/>
                </a:tc>
              </a:tr>
              <a:tr h="1338070">
                <a:tc>
                  <a:txBody>
                    <a:bodyPr/>
                    <a:p>
                      <a:pPr>
                        <a:defRPr/>
                      </a:pPr>
                      <a:r>
                        <a:rPr lang="en-GB" sz="2200" b="0" i="0" u="none" strike="noStrike" cap="none" spc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7) </a:t>
                      </a:r>
                      <a:r>
                        <a:rPr lang="en-GB" sz="2200" b="0" i="0" u="none" strike="noStrike" cap="none" spc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Anti skinning </a:t>
                      </a:r>
                      <a:r>
                        <a:rPr lang="en-GB" sz="2200" b="0" i="0" u="none" strike="noStrike" cap="none" spc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agents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indent="0">
                        <a:buFont typeface="Arial"/>
                        <a:buNone/>
                        <a:defRPr/>
                      </a:pPr>
                      <a:r>
                        <a:rPr lang="en-GB" sz="1800" b="0" i="0" u="none" strike="noStrike" cap="none" spc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These substances are </a:t>
                      </a:r>
                      <a:r>
                        <a:rPr lang="en-GB" sz="1800" b="0" i="0" u="none" strike="noStrike" cap="none" spc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occasionally added</a:t>
                      </a:r>
                      <a:r>
                        <a:rPr lang="en-GB" sz="1800" b="0" i="0" u="none" strike="noStrike" cap="none" spc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to paint </a:t>
                      </a:r>
                      <a:r>
                        <a:rPr lang="en-GB" sz="1800" b="0" i="0" u="none" strike="noStrike" cap="none" spc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sz="1800" b="0" i="0" u="none" strike="noStrike" cap="none" spc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283879" indent="-283879">
                        <a:buFont typeface="Arial"/>
                        <a:buChar char="•"/>
                        <a:defRPr/>
                      </a:pPr>
                      <a:r>
                        <a:rPr lang="en-GB" sz="1800" b="0" i="0" u="none" strike="noStrike" cap="none" spc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prevent the formation of gels and skins </a:t>
                      </a:r>
                      <a:r>
                        <a:rPr lang="en-GB" sz="1800" b="0" i="0" u="none" strike="noStrike" cap="none" spc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 the finished product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GB" sz="1800" b="0" i="0" u="none" strike="noStrike" cap="none" spc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Methanol, ethanol, butanol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927096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8" y="476249"/>
            <a:ext cx="10515600" cy="570071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 algn="just">
              <a:buFont typeface="Arial"/>
              <a:buNone/>
              <a:defRPr/>
            </a:pPr>
            <a:r>
              <a:rPr lang="en-GB" sz="2800" b="1" i="0" u="none" strike="noStrike" cap="none" spc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Inorganic coatings</a:t>
            </a: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just">
              <a:buFont typeface="Wingdings"/>
              <a:buChar char="Ø"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Inorganic coatings consist of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protective films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derived from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non-organic substances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like metal oxides, silicates, or ceramics. </a:t>
            </a:r>
            <a:endParaRPr lang="en-GB" sz="28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algn="just">
              <a:buFont typeface="Wingdings"/>
              <a:buChar char="Ø"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They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provide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superior resistance to heat, corrosion, and chemical damage,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making them well-suited for use in severe environments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lang="en-GB" sz="28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algn="just">
              <a:buFont typeface="Wingdings"/>
              <a:buChar char="Ø"/>
              <a:defRPr/>
            </a:pP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GB" sz="2800" b="1" i="0" u="none" strike="noStrike" cap="none" spc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Metallic coatings</a:t>
            </a: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Metallic coatings consist of a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thin metal layer deposited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onto a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metal surface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to protect it. </a:t>
            </a:r>
            <a:endParaRPr lang="en-GB" sz="28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They help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improve corrosion resistance,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enhance the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surface's appearance,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and offer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extra mechanical durability</a:t>
            </a:r>
            <a:endParaRPr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2503246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8" y="698499"/>
            <a:ext cx="7243799" cy="547846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/>
          <a:p>
            <a:pPr marL="0" indent="0">
              <a:buFont typeface="Arial"/>
              <a:buNone/>
              <a:defRPr/>
            </a:pPr>
            <a:r>
              <a:rPr lang="en-GB" sz="2400" b="1" i="0" u="none" strike="noStrike" cap="none" spc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Electroplating</a:t>
            </a:r>
            <a:endParaRPr sz="24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GB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Electroplating is a </a:t>
            </a:r>
            <a:r>
              <a:rPr lang="en-GB" sz="24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technique</a:t>
            </a:r>
            <a:r>
              <a:rPr lang="en-GB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in which an </a:t>
            </a:r>
            <a:r>
              <a:rPr lang="en-GB" sz="24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electric current</a:t>
            </a:r>
            <a:r>
              <a:rPr lang="en-GB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is </a:t>
            </a:r>
            <a:r>
              <a:rPr lang="en-GB" sz="24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used to</a:t>
            </a:r>
            <a:r>
              <a:rPr lang="en-GB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GB" sz="24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coat a thin metal laye</a:t>
            </a:r>
            <a:r>
              <a:rPr lang="en-GB" sz="24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r</a:t>
            </a:r>
            <a:r>
              <a:rPr lang="en-GB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onto the </a:t>
            </a:r>
            <a:r>
              <a:rPr lang="en-GB" sz="24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surface of another metal</a:t>
            </a:r>
            <a:r>
              <a:rPr lang="en-GB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or conductive material, </a:t>
            </a:r>
            <a:r>
              <a:rPr lang="en-GB" sz="24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improving is appearance, corrosion resistance,</a:t>
            </a:r>
            <a:endParaRPr sz="2400" b="0" i="0" u="none" strike="noStrike" cap="none" spc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GB" sz="2400" b="1" i="0" u="none" strike="noStrike" cap="none" spc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Theory</a:t>
            </a:r>
            <a:endParaRPr sz="24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GB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Electroplating is a process where an </a:t>
            </a:r>
            <a:r>
              <a:rPr lang="en-GB" sz="24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electric current is passed through an electrolyte solution</a:t>
            </a:r>
            <a:r>
              <a:rPr lang="en-GB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containing </a:t>
            </a:r>
            <a:r>
              <a:rPr lang="en-GB" sz="24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metal ions</a:t>
            </a:r>
            <a:endParaRPr lang="en-GB" sz="2400" b="0" i="0" u="none" strike="noStrike" cap="none" spc="0">
              <a:solidFill>
                <a:srgbClr val="FF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GB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The term to be </a:t>
            </a:r>
            <a:r>
              <a:rPr lang="en-GB" sz="24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plated serves</a:t>
            </a:r>
            <a:r>
              <a:rPr lang="en-GB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as the </a:t>
            </a:r>
            <a:r>
              <a:rPr lang="en-GB" sz="24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cathode,</a:t>
            </a:r>
            <a:r>
              <a:rPr lang="en-GB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GB" sz="24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attracting the positively charged metal ions from the solution</a:t>
            </a:r>
            <a:r>
              <a:rPr lang="en-GB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. These ions </a:t>
            </a:r>
            <a:r>
              <a:rPr lang="en-GB" sz="24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receive electron</a:t>
            </a:r>
            <a:r>
              <a:rPr lang="en-GB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 (undergo reduction) at the cathode surface and </a:t>
            </a:r>
            <a:r>
              <a:rPr lang="en-GB" sz="24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form a thin, uniform metal coating</a:t>
            </a:r>
            <a:r>
              <a:rPr lang="en-GB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lang="en-GB" sz="24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GB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At the same time, </a:t>
            </a:r>
            <a:r>
              <a:rPr lang="en-GB" sz="24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metal atoms from the anode dissolve</a:t>
            </a:r>
            <a:r>
              <a:rPr lang="en-GB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GB" sz="24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into</a:t>
            </a:r>
            <a:r>
              <a:rPr lang="en-GB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the </a:t>
            </a:r>
            <a:r>
              <a:rPr lang="en-GB" sz="24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solution </a:t>
            </a:r>
            <a:r>
              <a:rPr lang="en-GB" sz="24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as</a:t>
            </a:r>
            <a:r>
              <a:rPr lang="en-GB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GB" sz="24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ions</a:t>
            </a:r>
            <a:r>
              <a:rPr lang="en-GB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replenishing the metal ion concentration in the electrolyte </a:t>
            </a:r>
            <a:endParaRPr lang="en-GB" sz="24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GB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This cycle ensures a </a:t>
            </a:r>
            <a:r>
              <a:rPr lang="en-GB" sz="24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 metal layer is deposited on the base metal</a:t>
            </a:r>
            <a:endParaRPr/>
          </a:p>
        </p:txBody>
      </p:sp>
      <p:pic>
        <p:nvPicPr>
          <p:cNvPr id="1396166005" name=""/>
          <p:cNvPicPr>
            <a:picLocks noChangeAspect="1"/>
          </p:cNvPicPr>
          <p:nvPr/>
        </p:nvPicPr>
        <p:blipFill rotWithShape="1">
          <a:blip r:embed="rId3"/>
          <a:srcRect l="0" t="0" r="0" b="8992"/>
          <a:stretch/>
        </p:blipFill>
        <p:spPr bwMode="auto">
          <a:xfrm flipH="0" flipV="0">
            <a:off x="8002624" y="857250"/>
            <a:ext cx="3254374" cy="49688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243686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8" y="222249"/>
            <a:ext cx="10515600" cy="634999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0000" lnSpcReduction="6000"/>
          </a:bodyPr>
          <a:lstStyle/>
          <a:p>
            <a:pPr marL="0" indent="0" algn="just">
              <a:buFont typeface="Arial"/>
              <a:buNone/>
              <a:defRPr/>
            </a:pPr>
            <a:r>
              <a:rPr lang="en-GB" sz="2600" b="1" i="0" u="none" strike="noStrike" cap="none" spc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Gold plating</a:t>
            </a:r>
            <a:endParaRPr sz="2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just">
              <a:buFont typeface="Wingdings"/>
              <a:buChar char="v"/>
              <a:defRPr/>
            </a:pP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Before gold plating,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the metal surface is first cleaned with organic solvents to remove any oil and grease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. </a:t>
            </a:r>
            <a:endParaRPr sz="2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just">
              <a:buFont typeface="Wingdings"/>
              <a:buChar char="v"/>
              <a:defRPr/>
            </a:pP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It is then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 treated with dilute HCI or H2SO4 to eliminate surface scales, oxides, and other impurities </a:t>
            </a:r>
            <a:endParaRPr sz="2600" b="0" i="0" u="none" strike="noStrike" cap="none" spc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algn="just">
              <a:buFont typeface="Wingdings"/>
              <a:buChar char="v"/>
              <a:defRPr/>
            </a:pP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The cleaned article is then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used as the cathode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in the electrolytic cell</a:t>
            </a:r>
            <a:endParaRPr sz="2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Anode: Gold Plate</a:t>
            </a:r>
            <a:r>
              <a:rPr sz="2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  </a:t>
            </a:r>
            <a:endParaRPr sz="2600" b="0" i="0" u="none" strike="noStrike" cap="none" spc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Cathode: Article To Be Coated</a:t>
            </a:r>
            <a:endParaRPr sz="2600" b="0" i="0" u="none" strike="noStrike" cap="none" spc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Electrolyte: Aucl4</a:t>
            </a:r>
            <a:endParaRPr sz="2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The electrolyte undergoes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ionisation reaction</a:t>
            </a:r>
            <a:r>
              <a:rPr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2600" b="0" i="0" u="none" strike="noStrike" cap="none" spc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0" indent="0" algn="ctr">
              <a:buFont typeface="Arial"/>
              <a:buNone/>
              <a:defRPr/>
            </a:pPr>
            <a:r>
              <a:rPr lang="en-GB" sz="2600" b="0" i="0" u="none" strike="noStrike" cap="none" spc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 AuCl</a:t>
            </a:r>
            <a:r>
              <a:rPr lang="en-GB" sz="2600" b="0" i="0" u="none" strike="noStrike" cap="none" spc="0" baseline="-250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lang="en-GB" sz="2600" b="0" i="0" u="none" strike="noStrike" cap="none" spc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 → Au</a:t>
            </a:r>
            <a:r>
              <a:rPr lang="en-GB" sz="2600" b="0" i="0" u="none" strike="noStrike" cap="none" spc="0" baseline="300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3+</a:t>
            </a:r>
            <a:r>
              <a:rPr lang="en-GB" sz="2600" b="0" i="0" u="none" strike="noStrike" cap="none" spc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 +3Cl </a:t>
            </a:r>
            <a:r>
              <a:rPr lang="en-GB" sz="2600" b="0" i="0" u="none" strike="noStrike" cap="none" spc="0" baseline="300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-</a:t>
            </a:r>
            <a:endParaRPr sz="2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just">
              <a:defRPr/>
            </a:pPr>
            <a:r>
              <a:rPr lang="en-GB" sz="2600" b="0" i="0" u="none" strike="noStrike" cap="none" spc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At cathode: 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When current is  applied </a:t>
            </a:r>
            <a:r>
              <a:rPr lang="en-GB" sz="2600" b="0" i="0" u="none" strike="noStrike" cap="none" spc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Au</a:t>
            </a:r>
            <a:r>
              <a:rPr lang="en-GB" sz="2600" b="0" i="0" u="none" strike="noStrike" cap="none" spc="0" baseline="300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3+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migrate toward the cathode and deposited as metallic gold </a:t>
            </a:r>
            <a:endParaRPr sz="2600" b="0" i="0" u="none" strike="noStrike" cap="none" spc="0">
              <a:solidFill>
                <a:srgbClr val="00B0F0"/>
              </a:solidFill>
              <a:latin typeface="Times New Roman"/>
              <a:cs typeface="Times New Roman"/>
            </a:endParaRPr>
          </a:p>
          <a:p>
            <a:pPr marL="0" indent="0" algn="ctr">
              <a:buFont typeface="Arial"/>
              <a:buNone/>
              <a:defRPr/>
            </a:pPr>
            <a:r>
              <a:rPr lang="en-GB" sz="2600" b="0" i="0" u="none" strike="noStrike" cap="none" spc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 Au</a:t>
            </a:r>
            <a:r>
              <a:rPr lang="en-GB" sz="2600" b="0" i="0" u="none" strike="noStrike" cap="none" spc="0" baseline="300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3+   </a:t>
            </a:r>
            <a:r>
              <a:rPr lang="en-GB" sz="2600" b="0" i="0" u="none" strike="noStrike" cap="none" spc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+</a:t>
            </a:r>
            <a:r>
              <a:rPr lang="en-GB" sz="2600" b="0" i="0" u="none" strike="noStrike" cap="none" spc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lang="en-GB" sz="2600" b="0" i="0" u="none" strike="noStrike" cap="none" spc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e</a:t>
            </a:r>
            <a:r>
              <a:rPr lang="en-GB" sz="2600" b="0" i="0" u="none" strike="noStrike" cap="none" spc="0" baseline="300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- 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GB" sz="2600" b="0" i="0" u="none" strike="noStrike" cap="none" spc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→ </a:t>
            </a:r>
            <a:r>
              <a:rPr lang="en-GB" sz="2600" b="0" i="0" u="none" strike="noStrike" cap="none" spc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Au</a:t>
            </a:r>
            <a:endParaRPr sz="2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just">
              <a:defRPr/>
            </a:pPr>
            <a:r>
              <a:rPr lang="en-GB" sz="2600" b="0" i="0" u="none" strike="noStrike" cap="none" spc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At Anode 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:Chloride  move toward the gold anode and disolve an  equivalent amount of gold, forming Gold Chloride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.                                                    </a:t>
            </a:r>
            <a:r>
              <a:rPr lang="en-GB" sz="2600" b="0" i="0" u="none" strike="noStrike" cap="none" spc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Au</a:t>
            </a:r>
            <a:r>
              <a:rPr lang="en-GB" sz="2600" b="0" i="0" u="none" strike="noStrike" cap="none" spc="0" baseline="300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3+</a:t>
            </a:r>
            <a:r>
              <a:rPr lang="en-GB" sz="2600" b="0" i="0" u="none" strike="noStrike" cap="none" spc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 +3Cl </a:t>
            </a:r>
            <a:r>
              <a:rPr lang="en-GB" sz="2600" b="0" i="0" u="none" strike="noStrike" cap="none" spc="0" baseline="300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GB" sz="2600" b="0" i="0" u="none" strike="noStrike" cap="none" spc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→</a:t>
            </a:r>
            <a:r>
              <a:rPr lang="en-GB" sz="2600" b="0" i="0" u="none" strike="noStrike" cap="none" spc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Au</a:t>
            </a:r>
            <a:r>
              <a:rPr lang="en-GB" sz="2600" b="0" i="0" u="none" strike="noStrike" cap="none" spc="0" baseline="300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3+   </a:t>
            </a:r>
            <a:r>
              <a:rPr lang="en-GB" sz="2600" b="0" i="0" u="none" strike="noStrike" cap="none" spc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+</a:t>
            </a:r>
            <a:r>
              <a:rPr lang="en-GB" sz="2600" b="0" i="0" u="none" strike="noStrike" cap="none" spc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lang="en-GB" sz="2600" b="0" i="0" u="none" strike="noStrike" cap="none" spc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e</a:t>
            </a:r>
            <a:r>
              <a:rPr lang="en-GB" sz="2600" b="0" i="0" u="none" strike="noStrike" cap="none" spc="0" baseline="300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-</a:t>
            </a:r>
            <a:endParaRPr sz="2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just">
              <a:buFont typeface="Wingdings"/>
              <a:buChar char="v"/>
              <a:defRPr/>
            </a:pP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To obtain strong ,smooth and 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well-adhered gold coating- specific additives like adhesives and gelatin are added the plating bath 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2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just">
              <a:buFont typeface="Wingdings"/>
              <a:buChar char="v"/>
              <a:defRPr/>
            </a:pP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Brighteners - improve the shine of the deposit. </a:t>
            </a:r>
            <a:endParaRPr sz="2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just">
              <a:buFont typeface="Wingdings"/>
              <a:buChar char="v"/>
              <a:defRPr/>
            </a:pP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The optimal conditions for  high-quality electro deposit  are</a:t>
            </a:r>
            <a:r>
              <a:rPr sz="2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i)Optimum  tempeature   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ii)Buffer solution to mantian p</a:t>
            </a:r>
            <a:r>
              <a:rPr sz="2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H</a:t>
            </a:r>
            <a:r>
              <a:rPr sz="2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,  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iii)Low metal won concentratio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n</a:t>
            </a:r>
            <a:endParaRPr sz="260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4985477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8" y="285750"/>
            <a:ext cx="10515600" cy="589121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/>
          <a:p>
            <a:pPr marL="0" indent="0">
              <a:buFont typeface="Arial"/>
              <a:buNone/>
              <a:defRPr/>
            </a:pPr>
            <a:r>
              <a:rPr lang="en-GB" sz="2800" b="1" i="0" u="none" strike="noStrike" cap="none" spc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Applications</a:t>
            </a: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"/>
              <a:buChar char="v"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Applied to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connectors, circuit boards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and contacts because of gold's superior electrical conductivity and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resistance to corrosion and tarnishing</a:t>
            </a:r>
            <a:endParaRPr sz="2800" b="0" i="0" u="none" strike="noStrike" cap="none" spc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>
              <a:buFont typeface="Wingdings"/>
              <a:buChar char="v"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Offers a visually appealing, 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corrosion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-resistant coating to more affordable metals,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improving their appearance at a fraction of the cost 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of solid gold</a:t>
            </a: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just">
              <a:buFont typeface="Wingdings"/>
              <a:buChar char="v"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Used on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watches, pens, frames, and decorative items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to improve their visual appeal</a:t>
            </a:r>
            <a:endParaRPr sz="2800"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endParaRPr sz="2800" b="0" i="0" u="none" strike="noStrike" cap="none" spc="0">
              <a:solidFill>
                <a:srgbClr val="00B050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800" b="1" i="0" u="none" strike="noStrike" cap="none" spc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Electro-less plating</a:t>
            </a:r>
            <a:endParaRPr lang="en-GB" sz="2800" b="1" i="0" u="none" strike="noStrike" cap="none" spc="0">
              <a:solidFill>
                <a:srgbClr val="00B050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Electro-less plating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 chemical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 technique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that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deposits a metal coating on a surface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without application of an external electric current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it depends on a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controlled redox reaction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btween the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metal ions in the solution and a reducing agent</a:t>
            </a:r>
            <a:endParaRPr sz="2800" b="0" i="0" u="none" strike="noStrike" cap="none" spc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0" indent="0" algn="ctr">
              <a:buFont typeface="Arial"/>
              <a:buNone/>
              <a:defRPr/>
            </a:pPr>
            <a:r>
              <a:rPr lang="en-GB" sz="2800" b="1" i="0" u="none" strike="noStrike" cap="none" spc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Metal Ions </a:t>
            </a:r>
            <a:r>
              <a:rPr lang="en-GB" sz="2800" b="1" i="0" u="none" strike="noStrike" cap="none" spc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+Reducing agent </a:t>
            </a:r>
            <a:r>
              <a:rPr lang="en-GB" sz="2800" b="1" i="0" u="none" strike="noStrike" cap="none" spc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→ </a:t>
            </a:r>
            <a:r>
              <a:rPr lang="en-GB" sz="2800" b="1" i="0" u="none" strike="noStrike" cap="none" spc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Metal +Oxidised product</a:t>
            </a:r>
            <a:endParaRPr sz="2800" b="1" i="0" u="none" strike="noStrike" cap="none" spc="0">
              <a:solidFill>
                <a:srgbClr val="00B0F0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5702047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8" y="444499"/>
            <a:ext cx="10515600" cy="573246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 marL="0" indent="0">
              <a:buFont typeface="Arial"/>
              <a:buNone/>
              <a:defRPr/>
            </a:pPr>
            <a:r>
              <a:rPr lang="en-GB" sz="2800" b="1" i="0" u="none" strike="noStrike" cap="none" spc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Ni plating</a:t>
            </a:r>
            <a:endParaRPr sz="2800" b="1" i="0" u="none" strike="noStrike" cap="none" spc="0">
              <a:solidFill>
                <a:srgbClr val="00B050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800" b="1" i="0" u="none" strike="noStrike" cap="none" spc="0">
                <a:solidFill>
                  <a:srgbClr val="00B050"/>
                </a:solidFill>
                <a:latin typeface="Times New Roman"/>
                <a:cs typeface="Times New Roman"/>
              </a:rPr>
              <a:t>Step I  Pretreatment and activation</a:t>
            </a:r>
            <a:endParaRPr lang="en-GB" sz="28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buFont typeface="Wingdings"/>
              <a:buChar char="v"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The plating process starts by thoroughly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degreasing the surface with organic solvents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or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alkaline solutions 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then treating it with acid  and to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prepare the substrate for optimal adhesion</a:t>
            </a:r>
            <a:endParaRPr sz="2800" b="0" i="0" u="none" strike="noStrike" cap="none" spc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>
              <a:buFont typeface="Wingdings"/>
              <a:buChar char="v"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For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stainless steel surfaces 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activation 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is done by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immersing the material in a hot solution of sulphuric acid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diluted   50%</a:t>
            </a:r>
            <a:endParaRPr sz="2800" b="0" i="0" u="none" strike="noStrike" cap="none" spc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>
              <a:buFont typeface="Wingdings"/>
              <a:buChar char="v"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For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magnesium alloys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activate achieved by applying a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thin layer of ziie of copper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onto the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surface</a:t>
            </a: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"/>
              <a:buChar char="v"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Metals like aluminium, copper,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and can along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with alloys 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such as 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directly without requiring prior activation</a:t>
            </a:r>
            <a:endParaRPr sz="2800" b="0" i="0" u="none" strike="noStrike" cap="none" spc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>
              <a:buFont typeface="Wingdings"/>
              <a:buChar char="v"/>
              <a:defRPr/>
            </a:pP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Non-metallic substrates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such as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plastics and glas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s, are activated by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first dipping 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them in a s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olutionof Sncl</a:t>
            </a:r>
            <a:r>
              <a:rPr lang="en-GB" sz="2800" b="0" i="0" u="none" strike="noStrike" cap="none" spc="0" baseline="-25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  and HCL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then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 immersing them in a palladium chloride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solution</a:t>
            </a:r>
            <a:r>
              <a:rPr/>
              <a:t>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03962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365124"/>
            <a:ext cx="10515600" cy="587374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GB" sz="2800" b="1" i="0" u="none" strike="noStrike" cap="none" spc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Step II Preparation of plating bath</a:t>
            </a:r>
            <a:endParaRPr sz="2800" b="1">
              <a:solidFill>
                <a:srgbClr val="00B050"/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1695426672" name=""/>
          <p:cNvGraphicFramePr>
            <a:graphicFrameLocks xmlns:a="http://schemas.openxmlformats.org/drawingml/2006/main"/>
          </p:cNvGraphicFramePr>
          <p:nvPr>
            <p:ph idx="1"/>
          </p:nvPr>
        </p:nvGraphicFramePr>
        <p:xfrm rot="0">
          <a:off x="838198" y="1015999"/>
          <a:ext cx="10515600" cy="1884522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3505199"/>
                <a:gridCol w="3505199"/>
                <a:gridCol w="3505199"/>
              </a:tblGrid>
              <a:tr h="775607">
                <a:tc>
                  <a:txBody>
                    <a:bodyPr/>
                    <a:p>
                      <a:pPr>
                        <a:defRPr/>
                      </a:pPr>
                      <a:r>
                        <a:rPr lang="en-GB" sz="1800" b="1" i="0" u="none" strike="noStrike" cap="none" spc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Nature of the compound</a:t>
                      </a:r>
                      <a:endParaRPr lang="en-GB" sz="1800" b="1" i="0" u="none" strike="noStrike" cap="none" spc="0">
                        <a:solidFill>
                          <a:schemeClr val="lt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GB" sz="1800" b="1" i="0" u="none" strike="noStrike" cap="none" spc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Name of the compound</a:t>
                      </a:r>
                      <a:endParaRPr sz="1800" b="1" i="0" u="none" strike="noStrike" cap="none" spc="0">
                        <a:solidFill>
                          <a:schemeClr val="lt1"/>
                        </a:solidFill>
                        <a:latin typeface="Arial"/>
                        <a:cs typeface="Arial"/>
                      </a:endParaRPr>
                    </a:p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GB" sz="1800" b="1" i="0" u="none" strike="noStrike" cap="none" spc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  <a:endParaRPr/>
                    </a:p>
                  </a:txBody>
                  <a:tcPr/>
                </a:tc>
              </a:tr>
              <a:tr h="775607">
                <a:tc>
                  <a:txBody>
                    <a:bodyPr/>
                    <a:p>
                      <a:pPr>
                        <a:defRPr/>
                      </a:pPr>
                      <a:r>
                        <a:rPr lang="en-GB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Coating solution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GB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Nickel chloride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20</a:t>
                      </a:r>
                      <a:endParaRPr/>
                    </a:p>
                  </a:txBody>
                  <a:tcPr/>
                </a:tc>
              </a:tr>
              <a:tr h="775607">
                <a:tc>
                  <a:txBody>
                    <a:bodyPr/>
                    <a:p>
                      <a:pPr>
                        <a:defRPr/>
                      </a:pPr>
                      <a:r>
                        <a:rPr lang="en-GB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Reducing agent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GB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Sodium hypophosphate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20</a:t>
                      </a:r>
                      <a:endParaRPr/>
                    </a:p>
                  </a:txBody>
                  <a:tcPr/>
                </a:tc>
              </a:tr>
              <a:tr h="775607">
                <a:tc>
                  <a:txBody>
                    <a:bodyPr/>
                    <a:p>
                      <a:pPr>
                        <a:defRPr/>
                      </a:pPr>
                      <a:r>
                        <a:rPr lang="en-GB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Complexing agent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GB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Sodium succinate</a:t>
                      </a:r>
                      <a:endParaRPr u="sng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15</a:t>
                      </a:r>
                      <a:endParaRPr/>
                    </a:p>
                  </a:txBody>
                  <a:tcPr/>
                </a:tc>
              </a:tr>
              <a:tr h="775607">
                <a:tc>
                  <a:txBody>
                    <a:bodyPr/>
                    <a:p>
                      <a:pPr>
                        <a:defRPr/>
                      </a:pPr>
                      <a:r>
                        <a:rPr lang="en-GB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Buffer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GB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Sodiumacctate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10</a:t>
                      </a:r>
                      <a:endParaRPr/>
                    </a:p>
                  </a:txBody>
                  <a:tcPr/>
                </a:tc>
              </a:tr>
              <a:tr h="775607">
                <a:tc>
                  <a:txBody>
                    <a:bodyPr/>
                    <a:p>
                      <a:pPr>
                        <a:defRPr/>
                      </a:pPr>
                      <a:r>
                        <a:rPr lang="en-GB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Optimum pit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4.5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</a:t>
                      </a:r>
                      <a:endParaRPr/>
                    </a:p>
                  </a:txBody>
                  <a:tcPr/>
                </a:tc>
              </a:tr>
              <a:tr h="775607">
                <a:tc>
                  <a:txBody>
                    <a:bodyPr/>
                    <a:p>
                      <a:pPr>
                        <a:defRPr/>
                      </a:pPr>
                      <a:r>
                        <a:rPr lang="en-GB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Optimum temperature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93</a:t>
                      </a:r>
                      <a:r>
                        <a:rPr baseline="30000"/>
                        <a:t>0</a:t>
                      </a:r>
                      <a:r>
                        <a:rPr/>
                        <a:t>c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-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6988984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8" y="857250"/>
            <a:ext cx="7021549" cy="531971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 marL="0" indent="0">
              <a:buFont typeface="Arial"/>
              <a:buNone/>
              <a:defRPr/>
            </a:pPr>
            <a:r>
              <a:rPr lang="en-GB" sz="2400" b="1" i="0" u="none" strike="noStrike" cap="none" spc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iii)Procedure:</a:t>
            </a:r>
            <a:endParaRPr sz="24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The </a:t>
            </a:r>
            <a:r>
              <a:rPr lang="en-GB" sz="24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pre-treated object is submerged in the plating bath a for a specified area, </a:t>
            </a:r>
            <a:endParaRPr sz="2400" b="0" i="0" u="none" strike="noStrike" cap="none" spc="0">
              <a:solidFill>
                <a:srgbClr val="FF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400" b="1" i="0" u="none" strike="noStrike" cap="none" spc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The following reactions take place, </a:t>
            </a:r>
            <a:endParaRPr sz="24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At cathode: </a:t>
            </a:r>
            <a:r>
              <a:rPr lang="en-GB" sz="2400" b="0" i="0" u="none" strike="noStrike" cap="none" spc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Ni</a:t>
            </a:r>
            <a:r>
              <a:rPr lang="en-GB" sz="2400" b="0" i="0" u="none" strike="noStrike" cap="none" spc="0" baseline="300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2+</a:t>
            </a:r>
            <a:r>
              <a:rPr lang="en-GB" sz="2400" b="0" i="0" u="none" strike="noStrike" cap="none" spc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 +2e</a:t>
            </a:r>
            <a:r>
              <a:rPr lang="en-GB" sz="2400" b="0" i="0" u="none" strike="noStrike" cap="none" spc="0" baseline="300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lang="en-GB" sz="2400" b="0" i="0" u="none" strike="noStrike" cap="none" spc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 → Ni</a:t>
            </a:r>
            <a:endParaRPr sz="24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At anode: </a:t>
            </a:r>
            <a:r>
              <a:rPr lang="en-GB" sz="2400" b="0" i="0" u="none" strike="noStrike" cap="none" spc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H</a:t>
            </a:r>
            <a:r>
              <a:rPr lang="en-GB" sz="2400" b="0" i="0" u="none" strike="noStrike" cap="none" spc="0" baseline="-250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lang="en-GB" sz="2400" b="0" i="0" u="none" strike="noStrike" cap="none" spc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Po</a:t>
            </a:r>
            <a:r>
              <a:rPr lang="en-GB" sz="2400" b="0" i="0" u="none" strike="noStrike" cap="none" spc="0" baseline="-250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lang="en-GB" sz="2400" b="0" i="0" u="none" strike="noStrike" cap="none" spc="0" baseline="300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lang="en-GB" sz="2400" b="0" i="0" u="none" strike="noStrike" cap="none" spc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 +H</a:t>
            </a:r>
            <a:r>
              <a:rPr lang="en-GB" sz="2400" b="0" i="0" u="none" strike="noStrike" cap="none" spc="0" baseline="-250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lang="en-GB" sz="2400" b="0" i="0" u="none" strike="noStrike" cap="none" spc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O → </a:t>
            </a:r>
            <a:r>
              <a:rPr lang="en-GB" sz="2400" b="0" i="0" u="none" strike="noStrike" cap="none" spc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H</a:t>
            </a:r>
            <a:r>
              <a:rPr lang="en-GB" sz="2400" b="0" i="0" u="none" strike="noStrike" cap="none" spc="0" baseline="-250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lang="en-GB" sz="2400" b="0" i="0" u="none" strike="noStrike" cap="none" spc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Po</a:t>
            </a:r>
            <a:r>
              <a:rPr lang="en-GB" sz="2400" b="0" i="0" u="none" strike="noStrike" cap="none" spc="0" baseline="300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3-</a:t>
            </a:r>
            <a:r>
              <a:rPr lang="en-GB" sz="2400" b="0" i="0" u="none" strike="noStrike" cap="none" spc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GB" sz="2400" b="0" i="0" u="none" strike="noStrike" cap="none" spc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 +2H</a:t>
            </a:r>
            <a:r>
              <a:rPr lang="en-GB" sz="2400" b="0" i="0" u="none" strike="noStrike" cap="none" spc="0" baseline="300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+</a:t>
            </a:r>
            <a:r>
              <a:rPr lang="en-GB" sz="2400" b="0" i="0" u="none" strike="noStrike" cap="none" spc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 +2e</a:t>
            </a:r>
            <a:r>
              <a:rPr lang="en-GB" sz="2400" b="0" i="0" u="none" strike="noStrike" cap="none" spc="0" baseline="300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-</a:t>
            </a:r>
            <a:endParaRPr lang="en-GB" sz="2400" b="0" i="0" u="none" strike="noStrike" cap="none" spc="0">
              <a:solidFill>
                <a:srgbClr val="00B0F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Net reaction: </a:t>
            </a:r>
            <a:r>
              <a:rPr lang="en-GB" sz="2400" b="0" i="0" u="none" strike="noStrike" cap="none" spc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Ni</a:t>
            </a:r>
            <a:r>
              <a:rPr lang="en-GB" sz="2400" b="0" i="0" u="none" strike="noStrike" cap="none" spc="0" baseline="300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2+</a:t>
            </a:r>
            <a:r>
              <a:rPr lang="en-GB" sz="2400" b="0" i="0" u="none" strike="noStrike" cap="none" spc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+H</a:t>
            </a:r>
            <a:r>
              <a:rPr lang="en-GB" sz="2400" b="0" i="0" u="none" strike="noStrike" cap="none" spc="0" baseline="-250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lang="en-GB" sz="2400" b="0" i="0" u="none" strike="noStrike" cap="none" spc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Po</a:t>
            </a:r>
            <a:r>
              <a:rPr lang="en-GB" sz="2400" b="0" i="0" u="none" strike="noStrike" cap="none" spc="0" baseline="-250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lang="en-GB" sz="2400" b="0" i="0" u="none" strike="noStrike" cap="none" spc="0" baseline="300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lang="en-GB" sz="2400" b="0" i="0" u="none" strike="noStrike" cap="none" spc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 +H</a:t>
            </a:r>
            <a:r>
              <a:rPr lang="en-GB" sz="2400" b="0" i="0" u="none" strike="noStrike" cap="none" spc="0" baseline="-250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lang="en-GB" sz="2400" b="0" i="0" u="none" strike="noStrike" cap="none" spc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O → Ni +</a:t>
            </a:r>
            <a:r>
              <a:rPr lang="en-GB" sz="2400" b="0" i="0" u="none" strike="noStrike" cap="none" spc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H</a:t>
            </a:r>
            <a:r>
              <a:rPr lang="en-GB" sz="2400" b="0" i="0" u="none" strike="noStrike" cap="none" spc="0" baseline="-250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lang="en-GB" sz="2400" b="0" i="0" u="none" strike="noStrike" cap="none" spc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Po</a:t>
            </a:r>
            <a:r>
              <a:rPr lang="en-GB" sz="2400" b="0" i="0" u="none" strike="noStrike" cap="none" spc="0" baseline="300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3-</a:t>
            </a:r>
            <a:r>
              <a:rPr lang="en-GB" sz="2400" b="0" i="0" u="none" strike="noStrike" cap="none" spc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GB" sz="2400" b="0" i="0" u="none" strike="noStrike" cap="none" spc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 +2H</a:t>
            </a:r>
            <a:r>
              <a:rPr lang="en-GB" sz="2400" b="0" i="0" u="none" strike="noStrike" cap="none" spc="0" baseline="300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+</a:t>
            </a:r>
            <a:r>
              <a:rPr lang="en-GB" sz="2400" b="0" i="0" u="none" strike="noStrike" cap="none" spc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lang="en-GB" sz="24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400" b="1" i="0" u="none" strike="noStrike" cap="none" spc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Applications</a:t>
            </a:r>
            <a:endParaRPr lang="en-GB" sz="24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It is widely used in </a:t>
            </a:r>
            <a:r>
              <a:rPr lang="en-GB" sz="24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electronic appliances</a:t>
            </a:r>
            <a:r>
              <a:rPr lang="en-GB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24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Its polymers are utilized in </a:t>
            </a:r>
            <a:r>
              <a:rPr lang="en-GB" sz="24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both decorative and functional applicatio</a:t>
            </a:r>
            <a:r>
              <a:rPr sz="2400" b="0" i="0" u="none" strike="noStrike" cap="none" spc="0">
                <a:solidFill>
                  <a:srgbClr val="FF0000"/>
                </a:solidFill>
                <a:latin typeface="Times New Roman"/>
                <a:cs typeface="Times New Roman"/>
              </a:rPr>
              <a:t>ns</a:t>
            </a:r>
            <a:endParaRPr sz="2400" b="0" i="0" u="none" strike="noStrike" cap="none" spc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It is employed in </a:t>
            </a:r>
            <a:r>
              <a:rPr lang="en-GB" sz="24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both domestic and automotive sectors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70112836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399499" y="619124"/>
            <a:ext cx="2843174" cy="46513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444363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414374" y="365124"/>
            <a:ext cx="11160124" cy="1079499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5000" lnSpcReduction="1000"/>
          </a:bodyPr>
          <a:lstStyle/>
          <a:p>
            <a:pPr>
              <a:lnSpc>
                <a:spcPct val="100000"/>
              </a:lnSpc>
              <a:defRPr/>
            </a:pPr>
            <a:r>
              <a:rPr lang="en-GB" sz="2200" b="1" i="0" u="none" strike="noStrike" cap="none" spc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Surface conversion coating</a:t>
            </a:r>
            <a:endParaRPr sz="22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defRPr/>
            </a:pPr>
            <a:r>
              <a:rPr lang="en-GB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These coatings are </a:t>
            </a:r>
            <a:r>
              <a:rPr lang="en-GB" sz="24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created by chemically or electrochemically</a:t>
            </a:r>
            <a:r>
              <a:rPr lang="en-GB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treating the surface on metal or alloy, They serve as an excellent foundation for paints, lacquers, and enamels</a:t>
            </a:r>
            <a:r>
              <a:rPr lang="en-GB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554362527" name=""/>
          <p:cNvGraphicFramePr>
            <a:graphicFrameLocks xmlns:a="http://schemas.openxmlformats.org/drawingml/2006/main"/>
          </p:cNvGraphicFramePr>
          <p:nvPr>
            <p:ph idx="1"/>
          </p:nvPr>
        </p:nvGraphicFramePr>
        <p:xfrm rot="0">
          <a:off x="8161374" y="2107977"/>
          <a:ext cx="10515600" cy="1346088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1618533"/>
                <a:gridCol w="1573891"/>
              </a:tblGrid>
              <a:tr h="870934">
                <a:tc>
                  <a:txBody>
                    <a:bodyPr/>
                    <a:p>
                      <a:pPr>
                        <a:defRPr/>
                      </a:pPr>
                      <a:r>
                        <a:rPr lang="en-GB" sz="1800" b="1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Anode (base metal)</a:t>
                      </a:r>
                      <a:endParaRPr sz="1800" b="1" i="0" u="none" strike="noStrike" cap="none" spc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  <a:p>
                      <a:pPr>
                        <a:defRPr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GB" sz="1800" b="1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Aluminium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555596">
                <a:tc>
                  <a:txBody>
                    <a:bodyPr/>
                    <a:p>
                      <a:pPr>
                        <a:defRPr/>
                      </a:pPr>
                      <a:r>
                        <a:rPr lang="en-GB" sz="1800" b="1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Cathode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GB" sz="1800" b="1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Cathode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609654">
                <a:tc>
                  <a:txBody>
                    <a:bodyPr/>
                    <a:p>
                      <a:pPr>
                        <a:defRPr/>
                      </a:pPr>
                      <a:r>
                        <a:rPr lang="en-GB" sz="1800" b="1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Electrolyte</a:t>
                      </a:r>
                      <a:endParaRPr sz="1800" b="1" i="0" u="none" strike="noStrike" cap="none" spc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GB" sz="1800" b="1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3% chromic acid</a:t>
                      </a:r>
                      <a:endParaRPr sz="1800" b="1" i="0" u="none" strike="noStrike" cap="none" spc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</a:tr>
              <a:tr h="555596">
                <a:tc>
                  <a:txBody>
                    <a:bodyPr/>
                    <a:p>
                      <a:pPr>
                        <a:defRPr/>
                      </a:pPr>
                      <a:r>
                        <a:rPr lang="en-GB" sz="1800" b="1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Temperature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GB" sz="1800" b="1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40°C</a:t>
                      </a:r>
                      <a:endParaRPr sz="1800" b="1" i="0" u="none" strike="noStrike" cap="none" spc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</a:tr>
              <a:tr h="1132214">
                <a:tc>
                  <a:txBody>
                    <a:bodyPr/>
                    <a:p>
                      <a:pPr>
                        <a:defRPr/>
                      </a:pPr>
                      <a:r>
                        <a:rPr lang="en-GB" sz="1800" b="1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Current density</a:t>
                      </a:r>
                      <a:endParaRPr sz="1800" b="1" i="0" u="none" strike="noStrike" cap="none" spc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  <a:p>
                      <a:pPr>
                        <a:defRPr/>
                      </a:pPr>
                      <a:endParaRPr sz="1800" b="1" i="0" u="none" strike="noStrike" cap="none" spc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  <a:p>
                      <a:pPr>
                        <a:defRPr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GB" sz="1800" b="1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02-2 mA/cm²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701461721" name=""/>
          <p:cNvSpPr txBox="1"/>
          <p:nvPr/>
        </p:nvSpPr>
        <p:spPr bwMode="auto">
          <a:xfrm rot="0" flipH="0" flipV="0">
            <a:off x="414374" y="1690687"/>
            <a:ext cx="7494044" cy="46942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indent="0" algn="l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Anodising</a:t>
            </a: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 algn="l">
              <a:buFont typeface="Arial"/>
              <a:buNone/>
              <a:defRPr/>
            </a:pPr>
            <a:endParaRPr sz="22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This process produces a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thick oxide coating on base me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tal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 or their alloys 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by using the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metal as the anode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in an electro lytic call. </a:t>
            </a:r>
            <a:endParaRPr sz="26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Involves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passing</a:t>
            </a:r>
            <a:r>
              <a:rPr sz="2600" b="0" i="0" u="none" strike="noStrike" cap="none" spc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moderate direct electric current through a bath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in which the metal or alloy is suspended as the anode.</a:t>
            </a:r>
            <a:endParaRPr sz="2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The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electrolyte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 commonly used to facilitate this process include s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ulphuric acid, chromic acid, phosphoric acid, boric acid, and oxalic acid</a:t>
            </a:r>
            <a:endParaRPr sz="2600" b="0" i="0" u="none" strike="noStrike" cap="none" spc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algn="l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850881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365124"/>
            <a:ext cx="10515600" cy="2349499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 marL="0" indent="0" algn="just">
              <a:buFont typeface="Arial"/>
              <a:buNone/>
              <a:defRPr/>
            </a:pPr>
            <a:b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</a:br>
            <a:b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</a:b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During electrolysis, an oxide coating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gradually forms on the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aluminium surface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through progressive oxidation.</a:t>
            </a:r>
            <a:endParaRPr sz="26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b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The outer layer of this oxide film can be porous, but it can be sealed by immersing it in boiling water .</a:t>
            </a:r>
            <a:endParaRPr sz="26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b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This treatment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 reduces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porosity and enhances the corrosion resistance of the film</a:t>
            </a:r>
            <a:endParaRPr sz="2600" b="0" i="0" u="none" strike="noStrike" cap="none" spc="0">
              <a:solidFill>
                <a:srgbClr val="00B050"/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/>
          </a:p>
        </p:txBody>
      </p:sp>
      <p:sp>
        <p:nvSpPr>
          <p:cNvPr id="64075512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8" y="2820466"/>
            <a:ext cx="10515600" cy="292787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 marL="0" indent="0" algn="just">
              <a:buFont typeface="Arial"/>
              <a:buNone/>
              <a:defRPr/>
            </a:pPr>
            <a:r>
              <a:rPr lang="en-GB" sz="2600" b="1" i="0" u="none" strike="noStrike" cap="none" spc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Uses</a:t>
            </a:r>
            <a:endParaRPr sz="2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Offers a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decorative finish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available in a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range of colours and textures</a:t>
            </a:r>
            <a:endParaRPr sz="2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Utilized in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building facades, window frames, 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and  enhance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durability and aesthetics</a:t>
            </a:r>
            <a:endParaRPr sz="2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Applied to products such as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cookware, smartphones, and sporting goods</a:t>
            </a:r>
            <a:r>
              <a:rPr lang="en-GB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for both </a:t>
            </a:r>
            <a:r>
              <a:rPr lang="en-GB" sz="26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protection and visual appeal</a:t>
            </a:r>
            <a:endParaRPr sz="260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1913769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8" y="587374"/>
            <a:ext cx="5878549" cy="558958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60000" lnSpcReduction="8000"/>
          </a:bodyPr>
          <a:lstStyle/>
          <a:p>
            <a:pPr marL="0" indent="0" algn="l">
              <a:buFont typeface="Arial"/>
              <a:buNone/>
              <a:defRPr/>
            </a:pPr>
            <a:r>
              <a:rPr lang="en-GB" sz="2800" b="1" i="0" u="none" strike="noStrike" cap="none" spc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Phosphate coatings</a:t>
            </a:r>
            <a:endParaRPr lang="en-GB" sz="2800" b="1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 algn="l">
              <a:buFont typeface="Arial"/>
              <a:buNone/>
              <a:defRPr/>
            </a:pP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just">
              <a:buFont typeface="Wingdings"/>
              <a:buChar char="Ø"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These coatings are formed through a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chemical reaction between the base metal and an aqueous solution of phosphoric acid and phosphates.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lang="en-GB"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just">
              <a:buFont typeface="Wingdings"/>
              <a:buChar char="Ø"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The phosphates commonly used include those of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Fe, Mn, and Zn, often combined with accelerators such as copper salts. </a:t>
            </a:r>
            <a:endParaRPr sz="2800" b="0" i="0" u="none" strike="noStrike" cap="none" spc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algn="just">
              <a:buFont typeface="Wingdings"/>
              <a:buChar char="Ø"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Phosphate coatings are commonly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applied to iron, steel, and zinc, and to a lesser extent on Al, Cd, and Sn. </a:t>
            </a:r>
            <a:endParaRPr sz="2800" b="0" i="0" u="none" strike="noStrike" cap="none" spc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algn="just">
              <a:buFont typeface="Wingdings"/>
              <a:buChar char="Ø"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The chemical reaction between the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phosphating solution and the base metal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forms a surface layer composed of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crystalline phosphates of zinc, iron, or manganese.</a:t>
            </a:r>
            <a:endParaRPr lang="en-GB"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just">
              <a:buFont typeface="Wingdings"/>
              <a:buChar char="Ø"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These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coatings 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are typically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grey in colour,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but they can be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turned black by applying a dye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. </a:t>
            </a:r>
            <a:endParaRPr lang="en-GB"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just">
              <a:buFont typeface="Wingdings"/>
              <a:buChar char="Ø"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Phosphate coatings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do not provide full protection against atmospheric corrosion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and can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reduce welding strength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However, they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 enhance the film's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resistance to humidity</a:t>
            </a:r>
            <a:r>
              <a:rPr lang="en-GB" sz="2800" b="1" i="0" u="none" strike="noStrike" cap="none" spc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2800" b="1" i="0" u="none" strike="noStrike" cap="none" spc="0">
              <a:solidFill>
                <a:srgbClr val="00B050"/>
              </a:solidFill>
              <a:latin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GB" sz="2800" b="1" i="0" u="none" strike="noStrike" cap="none" spc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Uses</a:t>
            </a: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Serves as a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base coat for paints, lacquers, and o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Arial"/>
                <a:ea typeface="Arial"/>
                <a:cs typeface="Arial"/>
              </a:rPr>
              <a:t>il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 </a:t>
            </a:r>
            <a:endParaRPr sz="2800"/>
          </a:p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183337758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961930" y="1015999"/>
            <a:ext cx="4374444" cy="43656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3684641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82624" y="460374"/>
            <a:ext cx="11414124" cy="328612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 marL="0" indent="0">
              <a:buFont typeface="Arial"/>
              <a:buNone/>
              <a:defRPr/>
            </a:pPr>
            <a:r>
              <a:rPr lang="en-GB" sz="2800" b="1" i="0" u="none" strike="noStrike" cap="none" spc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Chromate coatings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GB" sz="22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These coatings are specifically used to </a:t>
            </a:r>
            <a:r>
              <a:rPr lang="en-GB" sz="22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protect Zn. Cd-plated components, as well as Al and Mg</a:t>
            </a:r>
            <a:r>
              <a:rPr lang="en-GB" sz="22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lang="en-GB" sz="22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2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They are formed by first immersing the item in an </a:t>
            </a:r>
            <a:r>
              <a:rPr lang="en-GB" sz="22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acid potassium chromate</a:t>
            </a:r>
            <a:r>
              <a:rPr lang="en-GB" sz="22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bath, followed by immersion in a</a:t>
            </a:r>
            <a:r>
              <a:rPr lang="en-GB" sz="22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 neutral chromate solution</a:t>
            </a:r>
            <a:r>
              <a:rPr lang="en-GB" sz="22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. The protective effect comes from the </a:t>
            </a:r>
            <a:r>
              <a:rPr lang="en-GB" sz="22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formation of a surface film composed of a mixture of Cr (III) and Cr (VI) </a:t>
            </a:r>
            <a:endParaRPr sz="2200" b="0" i="0" u="none" strike="noStrike" cap="none" spc="0">
              <a:solidFill>
                <a:srgbClr val="FF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2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By carefully </a:t>
            </a:r>
            <a:r>
              <a:rPr lang="en-GB" sz="22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adjusting the chemical composition of the chromate bath, coatings </a:t>
            </a:r>
            <a:r>
              <a:rPr lang="en-GB" sz="22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can be produced in a </a:t>
            </a:r>
            <a:r>
              <a:rPr lang="en-GB" sz="22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range of colour shade</a:t>
            </a:r>
            <a:r>
              <a:rPr lang="en-GB" sz="22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s.</a:t>
            </a:r>
            <a:endParaRPr lang="en-GB" sz="22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2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The resulting films are </a:t>
            </a:r>
            <a:r>
              <a:rPr lang="en-GB" sz="22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amorphous, non-porous, </a:t>
            </a:r>
            <a:r>
              <a:rPr lang="en-GB" sz="22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and offer better </a:t>
            </a:r>
            <a:r>
              <a:rPr lang="en-GB" sz="22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corrosion resistance than phosphate coatings</a:t>
            </a:r>
            <a:r>
              <a:rPr lang="en-GB" sz="22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though they have relatively low resistance to abrasion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1476744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58874" y="3905249"/>
            <a:ext cx="10540999" cy="2666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651090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8" y="460374"/>
            <a:ext cx="10768049" cy="241299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 marL="0" indent="0">
              <a:buFont typeface="Arial"/>
              <a:buNone/>
              <a:defRPr/>
            </a:pPr>
            <a:r>
              <a:rPr lang="en-GB" sz="2800" b="1" i="0" u="none" strike="noStrike" cap="none" spc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Hot dipping</a:t>
            </a: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In this method, the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metal to be coated is immersed in a molten bath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of the coating metal for a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sufficient period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then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removed with a layer of the coating metal adhering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to its surface. </a:t>
            </a:r>
            <a:endParaRPr lang="en-GB"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It is commonly used for applying </a:t>
            </a:r>
            <a:r>
              <a:rPr lang="en-GB" sz="28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coatings of low-melting-point metals and alloys, such as Zn, Pb, and terneplate (a Pb-Sn alloy)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2800" b="0" i="0" u="none" strike="noStrike" cap="none" spc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pic>
        <p:nvPicPr>
          <p:cNvPr id="1602673500" name=""/>
          <p:cNvPicPr>
            <a:picLocks noChangeAspect="1"/>
          </p:cNvPicPr>
          <p:nvPr/>
        </p:nvPicPr>
        <p:blipFill rotWithShape="1">
          <a:blip r:embed="rId3"/>
          <a:srcRect l="3467" t="5806" r="7116" b="16635"/>
          <a:stretch/>
        </p:blipFill>
        <p:spPr bwMode="auto">
          <a:xfrm flipH="0" flipV="0">
            <a:off x="1017624" y="3095624"/>
            <a:ext cx="9699624" cy="29686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158505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8" y="603249"/>
            <a:ext cx="10515600" cy="312737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0000" lnSpcReduction="4000"/>
          </a:bodyPr>
          <a:lstStyle/>
          <a:p>
            <a:pPr marL="0" indent="0">
              <a:buFont typeface="Arial"/>
              <a:buNone/>
              <a:defRPr/>
            </a:pPr>
            <a:r>
              <a:rPr lang="en-GB" sz="2800" b="1" i="0" u="none" strike="noStrike" cap="none" spc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Galvanising</a:t>
            </a: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GB" sz="22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The process of applying a zinc coating is known as galvanizing. </a:t>
            </a:r>
            <a:endParaRPr sz="22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GB" sz="22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First, the</a:t>
            </a:r>
            <a:r>
              <a:rPr lang="en-GB" sz="22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 base metal-typically an iron sheet-is pickled in dilute </a:t>
            </a:r>
            <a:r>
              <a:rPr lang="en-GB" sz="22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H</a:t>
            </a:r>
            <a:r>
              <a:rPr lang="en-GB" sz="2200" b="0" i="0" u="none" strike="noStrike" cap="none" spc="0" baseline="-25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lang="en-GB" sz="22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SO</a:t>
            </a:r>
            <a:r>
              <a:rPr lang="en-GB" sz="2200" b="0" i="0" u="none" strike="noStrike" cap="none" spc="0" baseline="-25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4</a:t>
            </a:r>
            <a:r>
              <a:rPr lang="en-GB" sz="22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. to remove any existing oxide layer. </a:t>
            </a:r>
            <a:endParaRPr sz="22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GB" sz="22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It is then </a:t>
            </a:r>
            <a:r>
              <a:rPr lang="en-GB" sz="22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thoroughly rinsed with water</a:t>
            </a:r>
            <a:r>
              <a:rPr lang="en-GB" sz="22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. </a:t>
            </a:r>
            <a:endParaRPr sz="22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GB" sz="22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After</a:t>
            </a:r>
            <a:r>
              <a:rPr lang="en-GB" sz="22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 cleaning and drying, the iron sheet is immersed in a bath of molten zinc, maintained at 430°C</a:t>
            </a:r>
            <a:r>
              <a:rPr lang="en-GB" sz="22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22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GB" sz="22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To </a:t>
            </a:r>
            <a:r>
              <a:rPr lang="en-GB" sz="22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prevent oxidation of the molten zinc</a:t>
            </a:r>
            <a:r>
              <a:rPr lang="en-GB" sz="22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the surface of the bath is </a:t>
            </a:r>
            <a:r>
              <a:rPr lang="en-GB" sz="22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covered with an ammonium chloride flux</a:t>
            </a:r>
            <a:r>
              <a:rPr lang="en-GB" sz="22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22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GB" sz="22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lang="en-GB" sz="22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 thin layer of the intermetallic compound Fe, Zn, forms at the interface</a:t>
            </a:r>
            <a:r>
              <a:rPr lang="en-GB" sz="22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ensuring </a:t>
            </a:r>
            <a:r>
              <a:rPr lang="en-GB" sz="22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strong adhesion of the pure zinc layer to the iron sheet.</a:t>
            </a:r>
            <a:r>
              <a:rPr lang="en-GB" sz="22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lang="en-GB" sz="22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lang="en-GB" sz="22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Any </a:t>
            </a:r>
            <a:r>
              <a:rPr lang="en-GB" sz="22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excess coating metal is removed by passing the sheet through a pair of hot rollers</a:t>
            </a:r>
            <a:r>
              <a:rPr lang="en-GB" sz="22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128094694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414499" y="3778249"/>
            <a:ext cx="9318624" cy="20288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0558556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8" y="253998"/>
            <a:ext cx="10515600" cy="398462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 marL="0" indent="0">
              <a:buFont typeface="Arial"/>
              <a:buNone/>
              <a:defRPr/>
            </a:pPr>
            <a:r>
              <a:rPr lang="en-GB" sz="2200" b="1" i="0" u="none" strike="noStrike" cap="none" spc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Tinning</a:t>
            </a:r>
            <a:endParaRPr lang="en-GB" sz="22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buFont typeface="Wingdings"/>
              <a:buChar char="v"/>
              <a:defRPr/>
            </a:pPr>
            <a:r>
              <a:rPr lang="en-GB" sz="22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The process of </a:t>
            </a:r>
            <a:r>
              <a:rPr lang="en-GB" sz="22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applying a tin coating</a:t>
            </a:r>
            <a:r>
              <a:rPr lang="en-GB" sz="22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is known as </a:t>
            </a:r>
            <a:r>
              <a:rPr lang="en-GB" sz="22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tinning</a:t>
            </a:r>
            <a:r>
              <a:rPr lang="en-GB" sz="22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lang="en-GB" sz="22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buFont typeface="Wingdings"/>
              <a:buChar char="v"/>
              <a:defRPr/>
            </a:pPr>
            <a:r>
              <a:rPr lang="en-GB" sz="22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Initially, the</a:t>
            </a:r>
            <a:r>
              <a:rPr lang="en-GB" sz="22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 base metal is pickled in dilute </a:t>
            </a:r>
            <a:r>
              <a:rPr lang="en-GB" sz="22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H</a:t>
            </a:r>
            <a:r>
              <a:rPr lang="en-GB" sz="2200" b="0" i="0" u="none" strike="noStrike" cap="none" spc="0" baseline="-25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lang="en-GB" sz="22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SO</a:t>
            </a:r>
            <a:r>
              <a:rPr lang="en-GB" sz="2200" b="0" i="0" u="none" strike="noStrike" cap="none" spc="0" baseline="-25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4</a:t>
            </a:r>
            <a:r>
              <a:rPr lang="en-GB" sz="22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. to </a:t>
            </a:r>
            <a:r>
              <a:rPr lang="en-GB" sz="22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remove any oxide layer</a:t>
            </a:r>
            <a:r>
              <a:rPr lang="en-GB" sz="22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then </a:t>
            </a:r>
            <a:r>
              <a:rPr lang="en-GB" sz="22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rinsed with water</a:t>
            </a:r>
            <a:r>
              <a:rPr lang="en-GB" sz="22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. </a:t>
            </a:r>
            <a:endParaRPr lang="en-GB" sz="22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buFont typeface="Wingdings"/>
              <a:buChar char="v"/>
              <a:defRPr/>
            </a:pPr>
            <a:r>
              <a:rPr lang="en-GB" sz="22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After </a:t>
            </a:r>
            <a:r>
              <a:rPr lang="en-GB" sz="22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cleaning and dryin</a:t>
            </a:r>
            <a:r>
              <a:rPr lang="en-GB" sz="22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g, it is </a:t>
            </a:r>
            <a:r>
              <a:rPr lang="en-GB" sz="22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immersed in a molten tin bath maintained at 235°C</a:t>
            </a:r>
            <a:r>
              <a:rPr lang="en-GB" sz="22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lang="en-GB" sz="22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buFont typeface="Wingdings"/>
              <a:buChar char="v"/>
              <a:defRPr/>
            </a:pPr>
            <a:r>
              <a:rPr lang="en-GB" sz="22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A </a:t>
            </a:r>
            <a:r>
              <a:rPr lang="en-GB" sz="22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layer of ZnCl</a:t>
            </a:r>
            <a:r>
              <a:rPr lang="en-GB" sz="2200" b="0" i="0" u="none" strike="noStrike" cap="none" spc="0" baseline="-25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lang="en-GB" sz="22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  flux is applied</a:t>
            </a:r>
            <a:r>
              <a:rPr lang="en-GB" sz="22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to </a:t>
            </a:r>
            <a:r>
              <a:rPr lang="en-GB" sz="22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further clean the metal surfac</a:t>
            </a:r>
            <a:r>
              <a:rPr lang="en-GB" sz="22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e, while </a:t>
            </a:r>
            <a:r>
              <a:rPr lang="en-GB" sz="22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palm oil is used to prevent the molten tin from oxidizing</a:t>
            </a:r>
            <a:endParaRPr sz="2200" b="0" i="0" u="none" strike="noStrike" cap="none" spc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>
              <a:buFont typeface="Wingdings"/>
              <a:buChar char="v"/>
              <a:defRPr/>
            </a:pPr>
            <a:r>
              <a:rPr lang="en-GB" sz="22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 </a:t>
            </a:r>
            <a:r>
              <a:rPr lang="en-GB" sz="22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thin layer of the intermetallic compound FeSn2</a:t>
            </a:r>
            <a:r>
              <a:rPr lang="en-GB" sz="22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forms at the interface, ensuring that the </a:t>
            </a:r>
            <a:r>
              <a:rPr lang="en-GB" sz="22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pure tin layer adheres firmly to the iron</a:t>
            </a:r>
            <a:r>
              <a:rPr lang="en-GB" sz="22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 sheet.</a:t>
            </a:r>
            <a:r>
              <a:rPr lang="en-GB" sz="22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lang="en-GB" sz="22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buFont typeface="Wingdings"/>
              <a:buChar char="v"/>
              <a:defRPr/>
            </a:pPr>
            <a:r>
              <a:rPr lang="en-GB" sz="22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Any </a:t>
            </a:r>
            <a:r>
              <a:rPr lang="en-GB" sz="22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excess tin coating is removed by passing the sheet through</a:t>
            </a:r>
            <a:r>
              <a:rPr lang="en-GB" sz="22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GB" sz="22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a pair of bet rollers</a:t>
            </a:r>
            <a:endParaRPr sz="2200" b="0" i="0" u="none" strike="noStrike" cap="none" spc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GB" sz="2200" b="1" i="0" u="none" strike="noStrike" cap="none" spc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Uses</a:t>
            </a:r>
            <a:r>
              <a:rPr lang="en-GB" sz="22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lang="en-GB" sz="22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Fit-plated won is used in</a:t>
            </a:r>
            <a:r>
              <a:rPr lang="en-GB" sz="2200" b="0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 food containers due to its non-toxic properties</a:t>
            </a:r>
            <a:endParaRPr sz="22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691863843" name=""/>
          <p:cNvPicPr>
            <a:picLocks noChangeAspect="1"/>
          </p:cNvPicPr>
          <p:nvPr/>
        </p:nvPicPr>
        <p:blipFill rotWithShape="1">
          <a:blip r:embed="rId3"/>
          <a:srcRect l="14027" t="23142" r="12551" b="10242"/>
          <a:stretch/>
        </p:blipFill>
        <p:spPr bwMode="auto">
          <a:xfrm flipH="0" flipV="0">
            <a:off x="969999" y="4762499"/>
            <a:ext cx="9794874" cy="2063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ONLYOFFICE/9.3.1.931</Application>
  <PresentationFormat>On-screen Show (4:3)</PresentationFormat>
  <Paragraphs>0</Paragraphs>
  <Slides>53</Slides>
  <Notes>53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18</cp:revision>
  <dcterms:created xsi:type="dcterms:W3CDTF">2026-03-17T22:28:00Z</dcterms:created>
  <dcterms:modified xsi:type="dcterms:W3CDTF">2026-03-24T05:22:18Z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3FC2280B452A49D59B62BA99CC44432C_12</vt:lpwstr>
  </property>
  <property fmtid="{D5CDD505-2E9C-101B-9397-08002B2CF9AE}" pid="3" name="KSOProductBuildVer">
    <vt:lpwstr>1033-12.2.0.23196</vt:lpwstr>
  </property>
</Properties>
</file>